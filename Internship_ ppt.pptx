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3"/>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3C6E3A">
              <a:alpha val="60000"/>
            </a:srgbClr>
          </a:solidFill>
          <a:ln/>
        </p:spPr>
      </p:sp>
      <p:sp>
        <p:nvSpPr>
          <p:cNvPr id="3" name="Shape 1"/>
          <p:cNvSpPr/>
          <p:nvPr/>
        </p:nvSpPr>
        <p:spPr>
          <a:xfrm>
            <a:off x="-548640" y="5943600"/>
            <a:ext cx="1463040" cy="1463040"/>
          </a:xfrm>
          <a:prstGeom prst="ellipse">
            <a:avLst/>
          </a:prstGeom>
          <a:solidFill>
            <a:srgbClr val="3C6E3A">
              <a:alpha val="45000"/>
            </a:srgbClr>
          </a:solidFill>
          <a:ln/>
        </p:spPr>
      </p:sp>
      <p:sp>
        <p:nvSpPr>
          <p:cNvPr id="4" name="Shape 2"/>
          <p:cNvSpPr/>
          <p:nvPr/>
        </p:nvSpPr>
        <p:spPr>
          <a:xfrm>
            <a:off x="0" y="0"/>
            <a:ext cx="12188952" cy="109728"/>
          </a:xfrm>
          <a:prstGeom prst="rect">
            <a:avLst/>
          </a:prstGeom>
          <a:solidFill>
            <a:srgbClr val="5FA85D"/>
          </a:solidFill>
          <a:ln/>
        </p:spPr>
      </p:sp>
      <p:sp>
        <p:nvSpPr>
          <p:cNvPr id="5" name="Text 3"/>
          <p:cNvSpPr/>
          <p:nvPr/>
        </p:nvSpPr>
        <p:spPr>
          <a:xfrm>
            <a:off x="822960" y="1371600"/>
            <a:ext cx="10515600" cy="457200"/>
          </a:xfrm>
          <a:prstGeom prst="rect">
            <a:avLst/>
          </a:prstGeom>
          <a:noFill/>
          <a:ln/>
        </p:spPr>
        <p:txBody>
          <a:bodyPr wrap="square" rtlCol="0" anchor="ctr"/>
          <a:lstStyle/>
          <a:p>
            <a:pPr indent="0" marL="0">
              <a:buNone/>
            </a:pPr>
            <a:r>
              <a:rPr lang="en-US" sz="1500" b="1" spc="200" kern="0" dirty="0">
                <a:solidFill>
                  <a:srgbClr val="5FA85D"/>
                </a:solidFill>
                <a:latin typeface="Calibri" pitchFamily="34" charset="0"/>
                <a:ea typeface="Calibri" pitchFamily="34" charset="-122"/>
                <a:cs typeface="Calibri" pitchFamily="34" charset="-120"/>
              </a:rPr>
              <a:t>AN INTERNSHIP REPORT</a:t>
            </a:r>
            <a:endParaRPr lang="en-US" sz="1500" dirty="0"/>
          </a:p>
        </p:txBody>
      </p:sp>
      <p:sp>
        <p:nvSpPr>
          <p:cNvPr id="6" name="Text 4"/>
          <p:cNvSpPr/>
          <p:nvPr/>
        </p:nvSpPr>
        <p:spPr>
          <a:xfrm>
            <a:off x="822960" y="1874520"/>
            <a:ext cx="1051560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Node.js Developer Intern</a:t>
            </a:r>
            <a:endParaRPr lang="en-US" sz="4400" dirty="0"/>
          </a:p>
        </p:txBody>
      </p:sp>
      <p:sp>
        <p:nvSpPr>
          <p:cNvPr id="7" name="Text 5"/>
          <p:cNvSpPr/>
          <p:nvPr/>
        </p:nvSpPr>
        <p:spPr>
          <a:xfrm>
            <a:off x="822960" y="2880360"/>
            <a:ext cx="9601200" cy="822960"/>
          </a:xfrm>
          <a:prstGeom prst="rect">
            <a:avLst/>
          </a:prstGeom>
          <a:noFill/>
          <a:ln/>
        </p:spPr>
        <p:txBody>
          <a:bodyPr wrap="square" rtlCol="0" anchor="ctr"/>
          <a:lstStyle/>
          <a:p>
            <a:pPr indent="0" marL="0">
              <a:lnSpc>
                <a:spcPct val="125000"/>
              </a:lnSpc>
              <a:buNone/>
            </a:pPr>
            <a:r>
              <a:rPr lang="en-US" sz="1400" dirty="0">
                <a:solidFill>
                  <a:srgbClr val="F4F4F2"/>
                </a:solidFill>
                <a:latin typeface="Calibri" pitchFamily="34" charset="0"/>
                <a:ea typeface="Calibri" pitchFamily="34" charset="-122"/>
                <a:cs typeface="Calibri" pitchFamily="34" charset="-120"/>
              </a:rPr>
              <a:t>Submitted to the School of Computer Science and Engineering, IILM University, Greater Noida, U.P.</a:t>
            </a:r>
            <a:endParaRPr lang="en-US" sz="1400" dirty="0"/>
          </a:p>
          <a:p>
            <a:pPr indent="0" marL="0">
              <a:lnSpc>
                <a:spcPct val="125000"/>
              </a:lnSpc>
              <a:buNone/>
            </a:pPr>
            <a:r>
              <a:rPr lang="en-US" sz="1400" dirty="0">
                <a:solidFill>
                  <a:srgbClr val="F4F4F2"/>
                </a:solidFill>
                <a:latin typeface="Calibri" pitchFamily="34" charset="0"/>
                <a:ea typeface="Calibri" pitchFamily="34" charset="-122"/>
                <a:cs typeface="Calibri" pitchFamily="34" charset="-120"/>
              </a:rPr>
              <a:t>In partial fulfilment of the requirement for the degree of B.Tech CSE</a:t>
            </a:r>
            <a:endParaRPr lang="en-US" sz="1400" dirty="0"/>
          </a:p>
        </p:txBody>
      </p:sp>
      <p:sp>
        <p:nvSpPr>
          <p:cNvPr id="8" name="Shape 6"/>
          <p:cNvSpPr/>
          <p:nvPr/>
        </p:nvSpPr>
        <p:spPr>
          <a:xfrm>
            <a:off x="822960" y="3977640"/>
            <a:ext cx="4114800" cy="0"/>
          </a:xfrm>
          <a:prstGeom prst="line">
            <a:avLst/>
          </a:prstGeom>
          <a:noFill/>
          <a:ln w="12700">
            <a:solidFill>
              <a:srgbClr val="8A9199"/>
            </a:solidFill>
            <a:prstDash val="solid"/>
          </a:ln>
        </p:spPr>
      </p:sp>
      <p:sp>
        <p:nvSpPr>
          <p:cNvPr id="9" name="Text 7"/>
          <p:cNvSpPr/>
          <p:nvPr/>
        </p:nvSpPr>
        <p:spPr>
          <a:xfrm>
            <a:off x="822960" y="4206240"/>
            <a:ext cx="7315200" cy="822960"/>
          </a:xfrm>
          <a:prstGeom prst="rect">
            <a:avLst/>
          </a:prstGeom>
          <a:noFill/>
          <a:ln/>
        </p:spPr>
        <p:txBody>
          <a:bodyPr wrap="square"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Kunal Kumar
</a:t>
            </a:r>
            <a:endParaRPr lang="en-US" sz="2000" dirty="0"/>
          </a:p>
          <a:p>
            <a:pPr indent="0" marL="0">
              <a:buNone/>
            </a:pPr>
            <a:r>
              <a:rPr lang="en-US" sz="1300" dirty="0">
                <a:solidFill>
                  <a:srgbClr val="8A9199"/>
                </a:solidFill>
                <a:latin typeface="Calibri" pitchFamily="34" charset="0"/>
                <a:ea typeface="Calibri" pitchFamily="34" charset="-122"/>
                <a:cs typeface="Calibri" pitchFamily="34" charset="-120"/>
              </a:rPr>
              <a:t>Roll No: 2410031543   |   Batch: 2026–27</a:t>
            </a:r>
            <a:endParaRPr lang="en-US" sz="2000" dirty="0"/>
          </a:p>
        </p:txBody>
      </p:sp>
      <p:sp>
        <p:nvSpPr>
          <p:cNvPr id="10" name="Shape 8"/>
          <p:cNvSpPr/>
          <p:nvPr/>
        </p:nvSpPr>
        <p:spPr>
          <a:xfrm>
            <a:off x="8778240" y="4160520"/>
            <a:ext cx="2743200" cy="1508760"/>
          </a:xfrm>
          <a:prstGeom prst="roundRect">
            <a:avLst>
              <a:gd name="adj" fmla="val 6061"/>
            </a:avLst>
          </a:prstGeom>
          <a:solidFill>
            <a:srgbClr val="262B30"/>
          </a:solidFill>
          <a:ln w="12700">
            <a:solidFill>
              <a:srgbClr val="3C6E3A"/>
            </a:solidFill>
            <a:prstDash val="solid"/>
          </a:ln>
        </p:spPr>
      </p:sp>
      <p:sp>
        <p:nvSpPr>
          <p:cNvPr id="11" name="Text 9"/>
          <p:cNvSpPr/>
          <p:nvPr/>
        </p:nvSpPr>
        <p:spPr>
          <a:xfrm>
            <a:off x="9006840" y="4343400"/>
            <a:ext cx="2377440" cy="1188720"/>
          </a:xfrm>
          <a:prstGeom prst="rect">
            <a:avLst/>
          </a:prstGeom>
          <a:noFill/>
          <a:ln/>
        </p:spPr>
        <p:txBody>
          <a:bodyPr wrap="square" rtlCol="0" anchor="t"/>
          <a:lstStyle/>
          <a:p>
            <a:pPr indent="0" marL="0">
              <a:buNone/>
            </a:pPr>
            <a:r>
              <a:rPr lang="en-US" sz="1000" dirty="0">
                <a:solidFill>
                  <a:srgbClr val="8A9199"/>
                </a:solidFill>
                <a:latin typeface="Calibri" pitchFamily="34" charset="0"/>
                <a:ea typeface="Calibri" pitchFamily="34" charset="-122"/>
                <a:cs typeface="Calibri" pitchFamily="34" charset="-120"/>
              </a:rPr>
              <a:t>Internship Partner
</a:t>
            </a:r>
            <a:endParaRPr lang="en-US" sz="1000" dirty="0"/>
          </a:p>
          <a:p>
            <a:pPr indent="0" marL="0">
              <a:buNone/>
            </a:pPr>
            <a:r>
              <a:rPr lang="en-US" sz="1300" b="1" dirty="0">
                <a:solidFill>
                  <a:srgbClr val="FFFFFF"/>
                </a:solidFill>
                <a:latin typeface="Calibri" pitchFamily="34" charset="0"/>
                <a:ea typeface="Calibri" pitchFamily="34" charset="-122"/>
                <a:cs typeface="Calibri" pitchFamily="34" charset="-120"/>
              </a:rPr>
              <a:t>Drasken Labs Pvt. Ltd.
</a:t>
            </a:r>
            <a:endParaRPr lang="en-US" sz="1000" dirty="0"/>
          </a:p>
          <a:p>
            <a:pPr indent="0" marL="0">
              <a:buNone/>
            </a:pPr>
            <a:r>
              <a:rPr lang="en-US" sz="1000" dirty="0">
                <a:solidFill>
                  <a:srgbClr val="5FA85D"/>
                </a:solidFill>
                <a:latin typeface="Calibri" pitchFamily="34" charset="0"/>
                <a:ea typeface="Calibri" pitchFamily="34" charset="-122"/>
                <a:cs typeface="Calibri" pitchFamily="34" charset="-120"/>
              </a:rPr>
              <a:t>Jan 15 – Jun 15, 2026 (5 months)</a:t>
            </a:r>
            <a:endParaRPr lang="en-US" sz="1000" dirty="0"/>
          </a:p>
        </p:txBody>
      </p:sp>
      <p:sp>
        <p:nvSpPr>
          <p:cNvPr id="12" name="Text 10"/>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5FA85D">
              <a:alpha val="85000"/>
            </a:srgbClr>
          </a:solidFill>
          <a:ln/>
        </p:spPr>
      </p:sp>
      <p:sp>
        <p:nvSpPr>
          <p:cNvPr id="3" name="Shape 1"/>
          <p:cNvSpPr/>
          <p:nvPr/>
        </p:nvSpPr>
        <p:spPr>
          <a:xfrm>
            <a:off x="-548640" y="5943600"/>
            <a:ext cx="1463040" cy="1463040"/>
          </a:xfrm>
          <a:prstGeom prst="ellipse">
            <a:avLst/>
          </a:prstGeom>
          <a:solidFill>
            <a:srgbClr val="5FA85D">
              <a:alpha val="75000"/>
            </a:srgbClr>
          </a:solidFill>
          <a:ln/>
        </p:spPr>
      </p:sp>
      <p:sp>
        <p:nvSpPr>
          <p:cNvPr id="4" name="Shape 2"/>
          <p:cNvSpPr/>
          <p:nvPr/>
        </p:nvSpPr>
        <p:spPr>
          <a:xfrm>
            <a:off x="457200" y="457200"/>
            <a:ext cx="2377440" cy="365760"/>
          </a:xfrm>
          <a:prstGeom prst="roundRect">
            <a:avLst>
              <a:gd name="adj" fmla="val 20000"/>
            </a:avLst>
          </a:prstGeom>
          <a:solidFill>
            <a:srgbClr val="5FA85D">
              <a:alpha val="9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01  ·  DECLARATION</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1B1F23"/>
                </a:solidFill>
                <a:latin typeface="Cambria" pitchFamily="34" charset="0"/>
                <a:ea typeface="Cambria" pitchFamily="34" charset="-122"/>
                <a:cs typeface="Cambria" pitchFamily="34" charset="-120"/>
              </a:rPr>
              <a:t>Candidate's Declaration</a:t>
            </a:r>
            <a:endParaRPr lang="en-US" sz="3200" dirty="0"/>
          </a:p>
        </p:txBody>
      </p:sp>
      <p:sp>
        <p:nvSpPr>
          <p:cNvPr id="7" name="Shape 5"/>
          <p:cNvSpPr/>
          <p:nvPr/>
        </p:nvSpPr>
        <p:spPr>
          <a:xfrm>
            <a:off x="457200" y="1920240"/>
            <a:ext cx="7315200" cy="4114800"/>
          </a:xfrm>
          <a:prstGeom prst="roundRect">
            <a:avLst>
              <a:gd name="adj" fmla="val 2222"/>
            </a:avLst>
          </a:prstGeom>
          <a:solidFill>
            <a:srgbClr val="FFFFFF"/>
          </a:solidFill>
          <a:ln w="12700">
            <a:solidFill>
              <a:srgbClr val="DDDDDD"/>
            </a:solidFill>
            <a:prstDash val="solid"/>
          </a:ln>
          <a:effectLst>
            <a:outerShdw sx="100000" sy="100000" kx="0" ky="0" algn="bl" rotWithShape="0" blurRad="101600" dist="38100" dir="5400000">
              <a:srgbClr val="999999">
                <a:alpha val="25000"/>
              </a:srgbClr>
            </a:outerShdw>
          </a:effectLst>
        </p:spPr>
      </p:sp>
      <p:sp>
        <p:nvSpPr>
          <p:cNvPr id="8" name="Text 6"/>
          <p:cNvSpPr/>
          <p:nvPr/>
        </p:nvSpPr>
        <p:spPr>
          <a:xfrm>
            <a:off x="777240" y="2194560"/>
            <a:ext cx="6675120" cy="3291840"/>
          </a:xfrm>
          <a:prstGeom prst="rect">
            <a:avLst/>
          </a:prstGeom>
          <a:noFill/>
          <a:ln/>
        </p:spPr>
        <p:txBody>
          <a:bodyPr wrap="square" rtlCol="0" anchor="t"/>
          <a:lstStyle/>
          <a:p>
            <a:pPr indent="0" marL="0">
              <a:lnSpc>
                <a:spcPct val="130000"/>
              </a:lnSpc>
              <a:buNone/>
            </a:pPr>
            <a:r>
              <a:rPr lang="en-US" sz="1400" dirty="0">
                <a:solidFill>
                  <a:srgbClr val="1B1F23"/>
                </a:solidFill>
                <a:latin typeface="Calibri" pitchFamily="34" charset="0"/>
                <a:ea typeface="Calibri" pitchFamily="34" charset="-122"/>
                <a:cs typeface="Calibri" pitchFamily="34" charset="-120"/>
              </a:rPr>
              <a:t>I, Kunal Kumar, do hereby declare that the internship report titled “Node.js Developer Intern” has been completed by me to fulfil the requirement for the award of the degree of Bachelor of Technology in CSE.</a:t>
            </a:r>
            <a:endParaRPr lang="en-US" sz="1400" dirty="0"/>
          </a:p>
          <a:p>
            <a:pPr indent="0" marL="0">
              <a:lnSpc>
                <a:spcPct val="130000"/>
              </a:lnSpc>
              <a:buNone/>
            </a:pPr>
            <a:endParaRPr lang="en-US" sz="1400" dirty="0"/>
          </a:p>
          <a:p>
            <a:pPr indent="0" marL="0">
              <a:lnSpc>
                <a:spcPct val="130000"/>
              </a:lnSpc>
              <a:buNone/>
            </a:pPr>
            <a:r>
              <a:rPr lang="en-US" sz="1400" dirty="0">
                <a:solidFill>
                  <a:srgbClr val="1B1F23"/>
                </a:solidFill>
                <a:latin typeface="Calibri" pitchFamily="34" charset="0"/>
                <a:ea typeface="Calibri" pitchFamily="34" charset="-122"/>
                <a:cs typeface="Calibri" pitchFamily="34" charset="-120"/>
              </a:rPr>
              <a:t>All references have been duly quoted, and no material has been taken as such from any other source. I affirm that this report is my own original work and has not been submitted to any other institute for any degree or diploma requirement. I shall be solely responsible for any kind of copyright violation in this regard.</a:t>
            </a:r>
            <a:endParaRPr lang="en-US" sz="1400" dirty="0"/>
          </a:p>
        </p:txBody>
      </p:sp>
      <p:sp>
        <p:nvSpPr>
          <p:cNvPr id="9" name="Shape 7"/>
          <p:cNvSpPr/>
          <p:nvPr/>
        </p:nvSpPr>
        <p:spPr>
          <a:xfrm>
            <a:off x="8092440" y="1920240"/>
            <a:ext cx="3611880" cy="4114800"/>
          </a:xfrm>
          <a:prstGeom prst="roundRect">
            <a:avLst>
              <a:gd name="adj" fmla="val 2532"/>
            </a:avLst>
          </a:prstGeom>
          <a:solidFill>
            <a:srgbClr val="1B1F23"/>
          </a:solidFill>
          <a:ln/>
        </p:spPr>
      </p:sp>
      <p:sp>
        <p:nvSpPr>
          <p:cNvPr id="10" name="Shape 8"/>
          <p:cNvSpPr/>
          <p:nvPr/>
        </p:nvSpPr>
        <p:spPr>
          <a:xfrm>
            <a:off x="8549640" y="2286000"/>
            <a:ext cx="822960" cy="822960"/>
          </a:xfrm>
          <a:prstGeom prst="ellipse">
            <a:avLst/>
          </a:prstGeom>
          <a:solidFill>
            <a:srgbClr val="5FA85D"/>
          </a:solidFill>
          <a:ln/>
        </p:spPr>
      </p:sp>
      <p:sp>
        <p:nvSpPr>
          <p:cNvPr id="11" name="Text 9"/>
          <p:cNvSpPr/>
          <p:nvPr/>
        </p:nvSpPr>
        <p:spPr>
          <a:xfrm>
            <a:off x="8549640" y="2286000"/>
            <a:ext cx="822960" cy="8229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KK</a:t>
            </a:r>
            <a:endParaRPr lang="en-US" sz="2000" dirty="0"/>
          </a:p>
        </p:txBody>
      </p:sp>
      <p:sp>
        <p:nvSpPr>
          <p:cNvPr id="12" name="Text 10"/>
          <p:cNvSpPr/>
          <p:nvPr/>
        </p:nvSpPr>
        <p:spPr>
          <a:xfrm>
            <a:off x="8549640" y="3337560"/>
            <a:ext cx="2971800" cy="2468880"/>
          </a:xfrm>
          <a:prstGeom prst="rect">
            <a:avLst/>
          </a:prstGeom>
          <a:noFill/>
          <a:ln/>
        </p:spPr>
        <p:txBody>
          <a:bodyPr wrap="square" rtlCol="0" anchor="t"/>
          <a:lstStyle/>
          <a:p>
            <a:pPr indent="0" marL="0">
              <a:buNone/>
            </a:pPr>
            <a:r>
              <a:rPr lang="en-US" sz="1000" dirty="0">
                <a:solidFill>
                  <a:srgbClr val="8A9199"/>
                </a:solidFill>
                <a:latin typeface="Calibri" pitchFamily="34" charset="0"/>
                <a:ea typeface="Calibri" pitchFamily="34" charset="-122"/>
                <a:cs typeface="Calibri" pitchFamily="34" charset="-120"/>
              </a:rPr>
              <a:t>Signature
</a:t>
            </a:r>
            <a:endParaRPr lang="en-US" sz="1000" dirty="0"/>
          </a:p>
          <a:p>
            <a:pPr indent="0" marL="0">
              <a:buNone/>
            </a:pPr>
            <a:r>
              <a:rPr lang="en-US" sz="1600" b="1" dirty="0">
                <a:solidFill>
                  <a:srgbClr val="FFFFFF"/>
                </a:solidFill>
                <a:latin typeface="Calibri" pitchFamily="34" charset="0"/>
                <a:ea typeface="Calibri" pitchFamily="34" charset="-122"/>
                <a:cs typeface="Calibri" pitchFamily="34" charset="-120"/>
              </a:rPr>
              <a:t>Kunal Kumar
</a:t>
            </a:r>
            <a:endParaRPr lang="en-US" sz="1000" dirty="0"/>
          </a:p>
          <a:p>
            <a:pPr indent="0" marL="0">
              <a:buNone/>
            </a:pPr>
            <a:r>
              <a:rPr lang="en-US" sz="1200" dirty="0">
                <a:solidFill>
                  <a:srgbClr val="F4F4F2"/>
                </a:solidFill>
                <a:latin typeface="Calibri" pitchFamily="34" charset="0"/>
                <a:ea typeface="Calibri" pitchFamily="34" charset="-122"/>
                <a:cs typeface="Calibri" pitchFamily="34" charset="-120"/>
              </a:rPr>
              <a:t>Roll No: 2410031543
</a:t>
            </a:r>
            <a:endParaRPr lang="en-US" sz="1000" dirty="0"/>
          </a:p>
          <a:p>
            <a:pPr indent="0" marL="0">
              <a:buNone/>
            </a:pPr>
            <a:r>
              <a:rPr lang="en-US" sz="1100" dirty="0">
                <a:solidFill>
                  <a:srgbClr val="8A9199"/>
                </a:solidFill>
                <a:latin typeface="Calibri" pitchFamily="34" charset="0"/>
                <a:ea typeface="Calibri" pitchFamily="34" charset="-122"/>
                <a:cs typeface="Calibri" pitchFamily="34" charset="-120"/>
              </a:rPr>
              <a:t>B.Tech CSE, IILM University</a:t>
            </a:r>
            <a:endParaRPr lang="en-US" sz="1000" dirty="0"/>
          </a:p>
          <a:p>
            <a:pPr indent="0" marL="0">
              <a:buNone/>
            </a:pPr>
            <a:r>
              <a:rPr lang="en-US" sz="1100" dirty="0">
                <a:solidFill>
                  <a:srgbClr val="8A9199"/>
                </a:solidFill>
                <a:latin typeface="Calibri" pitchFamily="34" charset="0"/>
                <a:ea typeface="Calibri" pitchFamily="34" charset="-122"/>
                <a:cs typeface="Calibri" pitchFamily="34" charset="-120"/>
              </a:rPr>
              <a:t>Greater Noida</a:t>
            </a:r>
            <a:endParaRPr lang="en-US" sz="1000" dirty="0"/>
          </a:p>
        </p:txBody>
      </p:sp>
      <p:sp>
        <p:nvSpPr>
          <p:cNvPr id="13" name="Text 11"/>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5FA85D">
              <a:alpha val="85000"/>
            </a:srgbClr>
          </a:solidFill>
          <a:ln/>
        </p:spPr>
      </p:sp>
      <p:sp>
        <p:nvSpPr>
          <p:cNvPr id="3" name="Shape 1"/>
          <p:cNvSpPr/>
          <p:nvPr/>
        </p:nvSpPr>
        <p:spPr>
          <a:xfrm>
            <a:off x="-548640" y="5943600"/>
            <a:ext cx="1463040" cy="1463040"/>
          </a:xfrm>
          <a:prstGeom prst="ellipse">
            <a:avLst/>
          </a:prstGeom>
          <a:solidFill>
            <a:srgbClr val="5FA85D">
              <a:alpha val="75000"/>
            </a:srgbClr>
          </a:solidFill>
          <a:ln/>
        </p:spPr>
      </p:sp>
      <p:sp>
        <p:nvSpPr>
          <p:cNvPr id="4" name="Shape 2"/>
          <p:cNvSpPr/>
          <p:nvPr/>
        </p:nvSpPr>
        <p:spPr>
          <a:xfrm>
            <a:off x="457200" y="457200"/>
            <a:ext cx="2377440" cy="365760"/>
          </a:xfrm>
          <a:prstGeom prst="roundRect">
            <a:avLst>
              <a:gd name="adj" fmla="val 20000"/>
            </a:avLst>
          </a:prstGeom>
          <a:solidFill>
            <a:srgbClr val="5FA85D">
              <a:alpha val="9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02  ·  ACKNOWLEDGEMENT</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1B1F23"/>
                </a:solidFill>
                <a:latin typeface="Cambria" pitchFamily="34" charset="0"/>
                <a:ea typeface="Cambria" pitchFamily="34" charset="-122"/>
                <a:cs typeface="Cambria" pitchFamily="34" charset="-120"/>
              </a:rPr>
              <a:t>Acknowledgement</a:t>
            </a:r>
            <a:endParaRPr lang="en-US" sz="3200" dirty="0"/>
          </a:p>
        </p:txBody>
      </p:sp>
      <p:sp>
        <p:nvSpPr>
          <p:cNvPr id="7" name="Shape 5"/>
          <p:cNvSpPr/>
          <p:nvPr/>
        </p:nvSpPr>
        <p:spPr>
          <a:xfrm>
            <a:off x="457200" y="2103120"/>
            <a:ext cx="3566160" cy="3566160"/>
          </a:xfrm>
          <a:prstGeom prst="roundRect">
            <a:avLst>
              <a:gd name="adj" fmla="val 2564"/>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8" name="Shape 6"/>
          <p:cNvSpPr/>
          <p:nvPr/>
        </p:nvSpPr>
        <p:spPr>
          <a:xfrm>
            <a:off x="731520" y="2423160"/>
            <a:ext cx="502920" cy="502920"/>
          </a:xfrm>
          <a:prstGeom prst="ellipse">
            <a:avLst/>
          </a:prstGeom>
          <a:solidFill>
            <a:srgbClr val="5FA85D"/>
          </a:solidFill>
          <a:ln/>
        </p:spPr>
      </p:sp>
      <p:sp>
        <p:nvSpPr>
          <p:cNvPr id="9" name="Text 7"/>
          <p:cNvSpPr/>
          <p:nvPr/>
        </p:nvSpPr>
        <p:spPr>
          <a:xfrm>
            <a:off x="731520" y="3108960"/>
            <a:ext cx="3017520" cy="548640"/>
          </a:xfrm>
          <a:prstGeom prst="rect">
            <a:avLst/>
          </a:prstGeom>
          <a:noFill/>
          <a:ln/>
        </p:spPr>
        <p:txBody>
          <a:bodyPr wrap="square" rtlCol="0" anchor="ctr"/>
          <a:lstStyle/>
          <a:p>
            <a:pPr indent="0" marL="0">
              <a:buNone/>
            </a:pPr>
            <a:r>
              <a:rPr lang="en-US" sz="1600" b="1" dirty="0">
                <a:solidFill>
                  <a:srgbClr val="1B1F23"/>
                </a:solidFill>
                <a:latin typeface="Cambria" pitchFamily="34" charset="0"/>
                <a:ea typeface="Cambria" pitchFamily="34" charset="-122"/>
                <a:cs typeface="Cambria" pitchFamily="34" charset="-120"/>
              </a:rPr>
              <a:t>Drasken Labs Pvt. Ltd.</a:t>
            </a:r>
            <a:endParaRPr lang="en-US" sz="1600" dirty="0"/>
          </a:p>
        </p:txBody>
      </p:sp>
      <p:sp>
        <p:nvSpPr>
          <p:cNvPr id="10" name="Text 8"/>
          <p:cNvSpPr/>
          <p:nvPr/>
        </p:nvSpPr>
        <p:spPr>
          <a:xfrm>
            <a:off x="731520" y="3657600"/>
            <a:ext cx="3017520" cy="1828800"/>
          </a:xfrm>
          <a:prstGeom prst="rect">
            <a:avLst/>
          </a:prstGeom>
          <a:noFill/>
          <a:ln/>
        </p:spPr>
        <p:txBody>
          <a:bodyPr wrap="square" rtlCol="0" anchor="t"/>
          <a:lstStyle/>
          <a:p>
            <a:pPr indent="0" marL="0">
              <a:lnSpc>
                <a:spcPct val="125000"/>
              </a:lnSpc>
              <a:buNone/>
            </a:pPr>
            <a:r>
              <a:rPr lang="en-US" sz="1250" dirty="0">
                <a:solidFill>
                  <a:srgbClr val="444444"/>
                </a:solidFill>
                <a:latin typeface="Calibri" pitchFamily="34" charset="0"/>
                <a:ea typeface="Calibri" pitchFamily="34" charset="-122"/>
                <a:cs typeface="Calibri" pitchFamily="34" charset="-120"/>
              </a:rPr>
              <a:t>For the opportunity to intern as a Node.js Developer and for guidance, constructive criticism and support throughout.</a:t>
            </a:r>
            <a:endParaRPr lang="en-US" sz="1250" dirty="0"/>
          </a:p>
        </p:txBody>
      </p:sp>
      <p:sp>
        <p:nvSpPr>
          <p:cNvPr id="11" name="Shape 9"/>
          <p:cNvSpPr/>
          <p:nvPr/>
        </p:nvSpPr>
        <p:spPr>
          <a:xfrm>
            <a:off x="4251960" y="2103120"/>
            <a:ext cx="3566160" cy="3566160"/>
          </a:xfrm>
          <a:prstGeom prst="roundRect">
            <a:avLst>
              <a:gd name="adj" fmla="val 2564"/>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12" name="Shape 10"/>
          <p:cNvSpPr/>
          <p:nvPr/>
        </p:nvSpPr>
        <p:spPr>
          <a:xfrm>
            <a:off x="4526280" y="2423160"/>
            <a:ext cx="502920" cy="502920"/>
          </a:xfrm>
          <a:prstGeom prst="ellipse">
            <a:avLst/>
          </a:prstGeom>
          <a:solidFill>
            <a:srgbClr val="5FA85D"/>
          </a:solidFill>
          <a:ln/>
        </p:spPr>
      </p:sp>
      <p:sp>
        <p:nvSpPr>
          <p:cNvPr id="13" name="Text 11"/>
          <p:cNvSpPr/>
          <p:nvPr/>
        </p:nvSpPr>
        <p:spPr>
          <a:xfrm>
            <a:off x="4526280" y="3108960"/>
            <a:ext cx="3017520" cy="548640"/>
          </a:xfrm>
          <a:prstGeom prst="rect">
            <a:avLst/>
          </a:prstGeom>
          <a:noFill/>
          <a:ln/>
        </p:spPr>
        <p:txBody>
          <a:bodyPr wrap="square" rtlCol="0" anchor="ctr"/>
          <a:lstStyle/>
          <a:p>
            <a:pPr indent="0" marL="0">
              <a:buNone/>
            </a:pPr>
            <a:r>
              <a:rPr lang="en-US" sz="1600" b="1" dirty="0">
                <a:solidFill>
                  <a:srgbClr val="1B1F23"/>
                </a:solidFill>
                <a:latin typeface="Cambria" pitchFamily="34" charset="0"/>
                <a:ea typeface="Cambria" pitchFamily="34" charset="-122"/>
                <a:cs typeface="Cambria" pitchFamily="34" charset="-120"/>
              </a:rPr>
              <a:t>IILM University</a:t>
            </a:r>
            <a:endParaRPr lang="en-US" sz="1600" dirty="0"/>
          </a:p>
        </p:txBody>
      </p:sp>
      <p:sp>
        <p:nvSpPr>
          <p:cNvPr id="14" name="Text 12"/>
          <p:cNvSpPr/>
          <p:nvPr/>
        </p:nvSpPr>
        <p:spPr>
          <a:xfrm>
            <a:off x="4526280" y="3657600"/>
            <a:ext cx="3017520" cy="1828800"/>
          </a:xfrm>
          <a:prstGeom prst="rect">
            <a:avLst/>
          </a:prstGeom>
          <a:noFill/>
          <a:ln/>
        </p:spPr>
        <p:txBody>
          <a:bodyPr wrap="square" rtlCol="0" anchor="t"/>
          <a:lstStyle/>
          <a:p>
            <a:pPr indent="0" marL="0">
              <a:lnSpc>
                <a:spcPct val="125000"/>
              </a:lnSpc>
              <a:buNone/>
            </a:pPr>
            <a:r>
              <a:rPr lang="en-US" sz="1250" dirty="0">
                <a:solidFill>
                  <a:srgbClr val="444444"/>
                </a:solidFill>
                <a:latin typeface="Calibri" pitchFamily="34" charset="0"/>
                <a:ea typeface="Calibri" pitchFamily="34" charset="-122"/>
                <a:cs typeface="Calibri" pitchFamily="34" charset="-120"/>
              </a:rPr>
              <a:t>For continuous encouragement from the Institute and the School of Computer Science and Engineering.</a:t>
            </a:r>
            <a:endParaRPr lang="en-US" sz="1250" dirty="0"/>
          </a:p>
        </p:txBody>
      </p:sp>
      <p:sp>
        <p:nvSpPr>
          <p:cNvPr id="15" name="Shape 13"/>
          <p:cNvSpPr/>
          <p:nvPr/>
        </p:nvSpPr>
        <p:spPr>
          <a:xfrm>
            <a:off x="8046720" y="2103120"/>
            <a:ext cx="3566160" cy="3566160"/>
          </a:xfrm>
          <a:prstGeom prst="roundRect">
            <a:avLst>
              <a:gd name="adj" fmla="val 2564"/>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16" name="Shape 14"/>
          <p:cNvSpPr/>
          <p:nvPr/>
        </p:nvSpPr>
        <p:spPr>
          <a:xfrm>
            <a:off x="8321040" y="2423160"/>
            <a:ext cx="502920" cy="502920"/>
          </a:xfrm>
          <a:prstGeom prst="ellipse">
            <a:avLst/>
          </a:prstGeom>
          <a:solidFill>
            <a:srgbClr val="5FA85D"/>
          </a:solidFill>
          <a:ln/>
        </p:spPr>
      </p:sp>
      <p:sp>
        <p:nvSpPr>
          <p:cNvPr id="17" name="Text 15"/>
          <p:cNvSpPr/>
          <p:nvPr/>
        </p:nvSpPr>
        <p:spPr>
          <a:xfrm>
            <a:off x="8321040" y="3108960"/>
            <a:ext cx="3017520" cy="548640"/>
          </a:xfrm>
          <a:prstGeom prst="rect">
            <a:avLst/>
          </a:prstGeom>
          <a:noFill/>
          <a:ln/>
        </p:spPr>
        <p:txBody>
          <a:bodyPr wrap="square" rtlCol="0" anchor="ctr"/>
          <a:lstStyle/>
          <a:p>
            <a:pPr indent="0" marL="0">
              <a:buNone/>
            </a:pPr>
            <a:r>
              <a:rPr lang="en-US" sz="1600" b="1" dirty="0">
                <a:solidFill>
                  <a:srgbClr val="1B1F23"/>
                </a:solidFill>
                <a:latin typeface="Cambria" pitchFamily="34" charset="0"/>
                <a:ea typeface="Cambria" pitchFamily="34" charset="-122"/>
                <a:cs typeface="Cambria" pitchFamily="34" charset="-120"/>
              </a:rPr>
              <a:t>Family</a:t>
            </a:r>
            <a:endParaRPr lang="en-US" sz="1600" dirty="0"/>
          </a:p>
        </p:txBody>
      </p:sp>
      <p:sp>
        <p:nvSpPr>
          <p:cNvPr id="18" name="Text 16"/>
          <p:cNvSpPr/>
          <p:nvPr/>
        </p:nvSpPr>
        <p:spPr>
          <a:xfrm>
            <a:off x="8321040" y="3657600"/>
            <a:ext cx="3017520" cy="1828800"/>
          </a:xfrm>
          <a:prstGeom prst="rect">
            <a:avLst/>
          </a:prstGeom>
          <a:noFill/>
          <a:ln/>
        </p:spPr>
        <p:txBody>
          <a:bodyPr wrap="square" rtlCol="0" anchor="t"/>
          <a:lstStyle/>
          <a:p>
            <a:pPr indent="0" marL="0">
              <a:lnSpc>
                <a:spcPct val="125000"/>
              </a:lnSpc>
              <a:buNone/>
            </a:pPr>
            <a:r>
              <a:rPr lang="en-US" sz="1250" dirty="0">
                <a:solidFill>
                  <a:srgbClr val="444444"/>
                </a:solidFill>
                <a:latin typeface="Calibri" pitchFamily="34" charset="0"/>
                <a:ea typeface="Calibri" pitchFamily="34" charset="-122"/>
                <a:cs typeface="Calibri" pitchFamily="34" charset="-120"/>
              </a:rPr>
              <a:t>For the blessings and support that made this journey possible.</a:t>
            </a:r>
            <a:endParaRPr lang="en-US" sz="1250" dirty="0"/>
          </a:p>
        </p:txBody>
      </p:sp>
      <p:sp>
        <p:nvSpPr>
          <p:cNvPr id="19" name="Text 17"/>
          <p:cNvSpPr/>
          <p:nvPr/>
        </p:nvSpPr>
        <p:spPr>
          <a:xfrm>
            <a:off x="1188720" y="5989320"/>
            <a:ext cx="9601200" cy="365760"/>
          </a:xfrm>
          <a:prstGeom prst="rect">
            <a:avLst/>
          </a:prstGeom>
          <a:noFill/>
          <a:ln/>
        </p:spPr>
        <p:txBody>
          <a:bodyPr wrap="square" rtlCol="0" anchor="ctr"/>
          <a:lstStyle/>
          <a:p>
            <a:pPr indent="0" marL="0">
              <a:buNone/>
            </a:pPr>
            <a:r>
              <a:rPr lang="en-US" sz="1200" i="1" dirty="0">
                <a:solidFill>
                  <a:srgbClr val="8A9199"/>
                </a:solidFill>
                <a:latin typeface="Calibri" pitchFamily="34" charset="0"/>
                <a:ea typeface="Calibri" pitchFamily="34" charset="-122"/>
                <a:cs typeface="Calibri" pitchFamily="34" charset="-120"/>
              </a:rPr>
              <a:t>With sincere thanks — Kunal Kumar, Roll No. 2410031543</a:t>
            </a:r>
            <a:endParaRPr lang="en-US" sz="1200" dirty="0"/>
          </a:p>
        </p:txBody>
      </p:sp>
      <p:sp>
        <p:nvSpPr>
          <p:cNvPr id="20" name="Text 18"/>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F23"/>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3C6E3A">
              <a:alpha val="60000"/>
            </a:srgbClr>
          </a:solidFill>
          <a:ln/>
        </p:spPr>
      </p:sp>
      <p:sp>
        <p:nvSpPr>
          <p:cNvPr id="3" name="Shape 1"/>
          <p:cNvSpPr/>
          <p:nvPr/>
        </p:nvSpPr>
        <p:spPr>
          <a:xfrm>
            <a:off x="-548640" y="5943600"/>
            <a:ext cx="1463040" cy="1463040"/>
          </a:xfrm>
          <a:prstGeom prst="ellipse">
            <a:avLst/>
          </a:prstGeom>
          <a:solidFill>
            <a:srgbClr val="3C6E3A">
              <a:alpha val="45000"/>
            </a:srgbClr>
          </a:solidFill>
          <a:ln/>
        </p:spPr>
      </p:sp>
      <p:sp>
        <p:nvSpPr>
          <p:cNvPr id="4" name="Shape 2"/>
          <p:cNvSpPr/>
          <p:nvPr/>
        </p:nvSpPr>
        <p:spPr>
          <a:xfrm>
            <a:off x="457200" y="457200"/>
            <a:ext cx="2377440" cy="365760"/>
          </a:xfrm>
          <a:prstGeom prst="roundRect">
            <a:avLst>
              <a:gd name="adj" fmla="val 20000"/>
            </a:avLst>
          </a:prstGeom>
          <a:solidFill>
            <a:srgbClr val="3C6E3A">
              <a:alpha val="8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4F4F2"/>
                </a:solidFill>
                <a:latin typeface="Calibri" pitchFamily="34" charset="0"/>
                <a:ea typeface="Calibri" pitchFamily="34" charset="-122"/>
                <a:cs typeface="Calibri" pitchFamily="34" charset="-120"/>
              </a:rPr>
              <a:t>CONTENTS</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Table of Contents</a:t>
            </a:r>
            <a:endParaRPr lang="en-US" sz="3200" dirty="0"/>
          </a:p>
        </p:txBody>
      </p:sp>
      <p:sp>
        <p:nvSpPr>
          <p:cNvPr id="7" name="Shape 5"/>
          <p:cNvSpPr/>
          <p:nvPr/>
        </p:nvSpPr>
        <p:spPr>
          <a:xfrm>
            <a:off x="457200" y="1965960"/>
            <a:ext cx="502920" cy="502920"/>
          </a:xfrm>
          <a:prstGeom prst="roundRect">
            <a:avLst>
              <a:gd name="adj" fmla="val 14545"/>
            </a:avLst>
          </a:prstGeom>
          <a:solidFill>
            <a:srgbClr val="3C6E3A"/>
          </a:solidFill>
          <a:ln/>
        </p:spPr>
      </p:sp>
      <p:sp>
        <p:nvSpPr>
          <p:cNvPr id="8" name="Text 6"/>
          <p:cNvSpPr/>
          <p:nvPr/>
        </p:nvSpPr>
        <p:spPr>
          <a:xfrm>
            <a:off x="457200" y="1965960"/>
            <a:ext cx="502920" cy="502920"/>
          </a:xfrm>
          <a:prstGeom prst="rect">
            <a:avLst/>
          </a:prstGeom>
          <a:noFill/>
          <a:ln/>
        </p:spPr>
        <p:txBody>
          <a:bodyPr wrap="square" rtlCol="0" anchor="ctr"/>
          <a:lstStyle/>
          <a:p>
            <a:pPr algn="ctr" indent="0" marL="0">
              <a:buNone/>
            </a:pPr>
            <a:r>
              <a:rPr lang="en-US" sz="1300" b="1" dirty="0">
                <a:solidFill>
                  <a:srgbClr val="5FA85D"/>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1143000" y="1984248"/>
            <a:ext cx="452628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Candidate's Declaration</a:t>
            </a:r>
            <a:endParaRPr lang="en-US" sz="1500" dirty="0"/>
          </a:p>
        </p:txBody>
      </p:sp>
      <p:sp>
        <p:nvSpPr>
          <p:cNvPr id="10" name="Shape 8"/>
          <p:cNvSpPr/>
          <p:nvPr/>
        </p:nvSpPr>
        <p:spPr>
          <a:xfrm>
            <a:off x="457200" y="2788920"/>
            <a:ext cx="502920" cy="502920"/>
          </a:xfrm>
          <a:prstGeom prst="roundRect">
            <a:avLst>
              <a:gd name="adj" fmla="val 14545"/>
            </a:avLst>
          </a:prstGeom>
          <a:solidFill>
            <a:srgbClr val="3C6E3A"/>
          </a:solidFill>
          <a:ln/>
        </p:spPr>
      </p:sp>
      <p:sp>
        <p:nvSpPr>
          <p:cNvPr id="11" name="Text 9"/>
          <p:cNvSpPr/>
          <p:nvPr/>
        </p:nvSpPr>
        <p:spPr>
          <a:xfrm>
            <a:off x="457200" y="2788920"/>
            <a:ext cx="502920" cy="502920"/>
          </a:xfrm>
          <a:prstGeom prst="rect">
            <a:avLst/>
          </a:prstGeom>
          <a:noFill/>
          <a:ln/>
        </p:spPr>
        <p:txBody>
          <a:bodyPr wrap="square" rtlCol="0" anchor="ctr"/>
          <a:lstStyle/>
          <a:p>
            <a:pPr algn="ctr" indent="0" marL="0">
              <a:buNone/>
            </a:pPr>
            <a:r>
              <a:rPr lang="en-US" sz="1300" b="1" dirty="0">
                <a:solidFill>
                  <a:srgbClr val="5FA85D"/>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1143000" y="2807208"/>
            <a:ext cx="452628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Acknowledgement</a:t>
            </a:r>
            <a:endParaRPr lang="en-US" sz="1500" dirty="0"/>
          </a:p>
        </p:txBody>
      </p:sp>
      <p:sp>
        <p:nvSpPr>
          <p:cNvPr id="13" name="Shape 11"/>
          <p:cNvSpPr/>
          <p:nvPr/>
        </p:nvSpPr>
        <p:spPr>
          <a:xfrm>
            <a:off x="457200" y="3611880"/>
            <a:ext cx="502920" cy="502920"/>
          </a:xfrm>
          <a:prstGeom prst="roundRect">
            <a:avLst>
              <a:gd name="adj" fmla="val 14545"/>
            </a:avLst>
          </a:prstGeom>
          <a:solidFill>
            <a:srgbClr val="3C6E3A"/>
          </a:solidFill>
          <a:ln/>
        </p:spPr>
      </p:sp>
      <p:sp>
        <p:nvSpPr>
          <p:cNvPr id="14" name="Text 12"/>
          <p:cNvSpPr/>
          <p:nvPr/>
        </p:nvSpPr>
        <p:spPr>
          <a:xfrm>
            <a:off x="457200" y="3611880"/>
            <a:ext cx="502920" cy="502920"/>
          </a:xfrm>
          <a:prstGeom prst="rect">
            <a:avLst/>
          </a:prstGeom>
          <a:noFill/>
          <a:ln/>
        </p:spPr>
        <p:txBody>
          <a:bodyPr wrap="square" rtlCol="0" anchor="ctr"/>
          <a:lstStyle/>
          <a:p>
            <a:pPr algn="ctr" indent="0" marL="0">
              <a:buNone/>
            </a:pPr>
            <a:r>
              <a:rPr lang="en-US" sz="1300" b="1" dirty="0">
                <a:solidFill>
                  <a:srgbClr val="5FA85D"/>
                </a:solidFill>
                <a:latin typeface="Calibri" pitchFamily="34" charset="0"/>
                <a:ea typeface="Calibri" pitchFamily="34" charset="-122"/>
                <a:cs typeface="Calibri" pitchFamily="34" charset="-120"/>
              </a:rPr>
              <a:t>03</a:t>
            </a:r>
            <a:endParaRPr lang="en-US" sz="1300" dirty="0"/>
          </a:p>
        </p:txBody>
      </p:sp>
      <p:sp>
        <p:nvSpPr>
          <p:cNvPr id="15" name="Text 13"/>
          <p:cNvSpPr/>
          <p:nvPr/>
        </p:nvSpPr>
        <p:spPr>
          <a:xfrm>
            <a:off x="1143000" y="3630168"/>
            <a:ext cx="452628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Internship Completion Certificate</a:t>
            </a:r>
            <a:endParaRPr lang="en-US" sz="1500" dirty="0"/>
          </a:p>
        </p:txBody>
      </p:sp>
      <p:sp>
        <p:nvSpPr>
          <p:cNvPr id="16" name="Shape 14"/>
          <p:cNvSpPr/>
          <p:nvPr/>
        </p:nvSpPr>
        <p:spPr>
          <a:xfrm>
            <a:off x="457200" y="4434840"/>
            <a:ext cx="502920" cy="502920"/>
          </a:xfrm>
          <a:prstGeom prst="roundRect">
            <a:avLst>
              <a:gd name="adj" fmla="val 14545"/>
            </a:avLst>
          </a:prstGeom>
          <a:solidFill>
            <a:srgbClr val="3C6E3A"/>
          </a:solidFill>
          <a:ln/>
        </p:spPr>
      </p:sp>
      <p:sp>
        <p:nvSpPr>
          <p:cNvPr id="17" name="Text 15"/>
          <p:cNvSpPr/>
          <p:nvPr/>
        </p:nvSpPr>
        <p:spPr>
          <a:xfrm>
            <a:off x="457200" y="4434840"/>
            <a:ext cx="502920" cy="502920"/>
          </a:xfrm>
          <a:prstGeom prst="rect">
            <a:avLst/>
          </a:prstGeom>
          <a:noFill/>
          <a:ln/>
        </p:spPr>
        <p:txBody>
          <a:bodyPr wrap="square" rtlCol="0" anchor="ctr"/>
          <a:lstStyle/>
          <a:p>
            <a:pPr algn="ctr" indent="0" marL="0">
              <a:buNone/>
            </a:pPr>
            <a:r>
              <a:rPr lang="en-US" sz="1300" b="1" dirty="0">
                <a:solidFill>
                  <a:srgbClr val="5FA85D"/>
                </a:solidFill>
                <a:latin typeface="Calibri" pitchFamily="34" charset="0"/>
                <a:ea typeface="Calibri" pitchFamily="34" charset="-122"/>
                <a:cs typeface="Calibri" pitchFamily="34" charset="-120"/>
              </a:rPr>
              <a:t>04</a:t>
            </a:r>
            <a:endParaRPr lang="en-US" sz="1300" dirty="0"/>
          </a:p>
        </p:txBody>
      </p:sp>
      <p:sp>
        <p:nvSpPr>
          <p:cNvPr id="18" name="Text 16"/>
          <p:cNvSpPr/>
          <p:nvPr/>
        </p:nvSpPr>
        <p:spPr>
          <a:xfrm>
            <a:off x="1143000" y="4453128"/>
            <a:ext cx="452628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Internship Offer Letter</a:t>
            </a:r>
            <a:endParaRPr lang="en-US" sz="1500" dirty="0"/>
          </a:p>
        </p:txBody>
      </p:sp>
      <p:sp>
        <p:nvSpPr>
          <p:cNvPr id="19" name="Shape 17"/>
          <p:cNvSpPr/>
          <p:nvPr/>
        </p:nvSpPr>
        <p:spPr>
          <a:xfrm>
            <a:off x="457200" y="5257800"/>
            <a:ext cx="502920" cy="502920"/>
          </a:xfrm>
          <a:prstGeom prst="roundRect">
            <a:avLst>
              <a:gd name="adj" fmla="val 14545"/>
            </a:avLst>
          </a:prstGeom>
          <a:solidFill>
            <a:srgbClr val="3C6E3A"/>
          </a:solidFill>
          <a:ln/>
        </p:spPr>
      </p:sp>
      <p:sp>
        <p:nvSpPr>
          <p:cNvPr id="20" name="Text 18"/>
          <p:cNvSpPr/>
          <p:nvPr/>
        </p:nvSpPr>
        <p:spPr>
          <a:xfrm>
            <a:off x="457200" y="5257800"/>
            <a:ext cx="502920" cy="502920"/>
          </a:xfrm>
          <a:prstGeom prst="rect">
            <a:avLst/>
          </a:prstGeom>
          <a:noFill/>
          <a:ln/>
        </p:spPr>
        <p:txBody>
          <a:bodyPr wrap="square" rtlCol="0" anchor="ctr"/>
          <a:lstStyle/>
          <a:p>
            <a:pPr algn="ctr" indent="0" marL="0">
              <a:buNone/>
            </a:pPr>
            <a:r>
              <a:rPr lang="en-US" sz="1300" b="1" dirty="0">
                <a:solidFill>
                  <a:srgbClr val="5FA85D"/>
                </a:solidFill>
                <a:latin typeface="Calibri" pitchFamily="34" charset="0"/>
                <a:ea typeface="Calibri" pitchFamily="34" charset="-122"/>
                <a:cs typeface="Calibri" pitchFamily="34" charset="-120"/>
              </a:rPr>
              <a:t>05</a:t>
            </a:r>
            <a:endParaRPr lang="en-US" sz="1300" dirty="0"/>
          </a:p>
        </p:txBody>
      </p:sp>
      <p:sp>
        <p:nvSpPr>
          <p:cNvPr id="21" name="Text 19"/>
          <p:cNvSpPr/>
          <p:nvPr/>
        </p:nvSpPr>
        <p:spPr>
          <a:xfrm>
            <a:off x="1143000" y="5276088"/>
            <a:ext cx="452628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Project Introduction</a:t>
            </a:r>
            <a:endParaRPr lang="en-US" sz="1500" dirty="0"/>
          </a:p>
        </p:txBody>
      </p:sp>
      <p:sp>
        <p:nvSpPr>
          <p:cNvPr id="22" name="Shape 20"/>
          <p:cNvSpPr/>
          <p:nvPr/>
        </p:nvSpPr>
        <p:spPr>
          <a:xfrm>
            <a:off x="6217920" y="1965960"/>
            <a:ext cx="502920" cy="502920"/>
          </a:xfrm>
          <a:prstGeom prst="roundRect">
            <a:avLst>
              <a:gd name="adj" fmla="val 14545"/>
            </a:avLst>
          </a:prstGeom>
          <a:solidFill>
            <a:srgbClr val="3C6E3A"/>
          </a:solidFill>
          <a:ln/>
        </p:spPr>
      </p:sp>
      <p:sp>
        <p:nvSpPr>
          <p:cNvPr id="23" name="Text 21"/>
          <p:cNvSpPr/>
          <p:nvPr/>
        </p:nvSpPr>
        <p:spPr>
          <a:xfrm>
            <a:off x="6217920" y="1965960"/>
            <a:ext cx="502920" cy="502920"/>
          </a:xfrm>
          <a:prstGeom prst="rect">
            <a:avLst/>
          </a:prstGeom>
          <a:noFill/>
          <a:ln/>
        </p:spPr>
        <p:txBody>
          <a:bodyPr wrap="square" rtlCol="0" anchor="ctr"/>
          <a:lstStyle/>
          <a:p>
            <a:pPr algn="ctr" indent="0" marL="0">
              <a:buNone/>
            </a:pPr>
            <a:r>
              <a:rPr lang="en-US" sz="1300" b="1" dirty="0">
                <a:solidFill>
                  <a:srgbClr val="5FA85D"/>
                </a:solidFill>
                <a:latin typeface="Calibri" pitchFamily="34" charset="0"/>
                <a:ea typeface="Calibri" pitchFamily="34" charset="-122"/>
                <a:cs typeface="Calibri" pitchFamily="34" charset="-120"/>
              </a:rPr>
              <a:t>06</a:t>
            </a:r>
            <a:endParaRPr lang="en-US" sz="1300" dirty="0"/>
          </a:p>
        </p:txBody>
      </p:sp>
      <p:sp>
        <p:nvSpPr>
          <p:cNvPr id="24" name="Text 22"/>
          <p:cNvSpPr/>
          <p:nvPr/>
        </p:nvSpPr>
        <p:spPr>
          <a:xfrm>
            <a:off x="6903720" y="1984248"/>
            <a:ext cx="452628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Project Overview</a:t>
            </a:r>
            <a:endParaRPr lang="en-US" sz="1500" dirty="0"/>
          </a:p>
        </p:txBody>
      </p:sp>
      <p:sp>
        <p:nvSpPr>
          <p:cNvPr id="25" name="Shape 23"/>
          <p:cNvSpPr/>
          <p:nvPr/>
        </p:nvSpPr>
        <p:spPr>
          <a:xfrm>
            <a:off x="6217920" y="2788920"/>
            <a:ext cx="502920" cy="502920"/>
          </a:xfrm>
          <a:prstGeom prst="roundRect">
            <a:avLst>
              <a:gd name="adj" fmla="val 14545"/>
            </a:avLst>
          </a:prstGeom>
          <a:solidFill>
            <a:srgbClr val="3C6E3A"/>
          </a:solidFill>
          <a:ln/>
        </p:spPr>
      </p:sp>
      <p:sp>
        <p:nvSpPr>
          <p:cNvPr id="26" name="Text 24"/>
          <p:cNvSpPr/>
          <p:nvPr/>
        </p:nvSpPr>
        <p:spPr>
          <a:xfrm>
            <a:off x="6217920" y="2788920"/>
            <a:ext cx="502920" cy="502920"/>
          </a:xfrm>
          <a:prstGeom prst="rect">
            <a:avLst/>
          </a:prstGeom>
          <a:noFill/>
          <a:ln/>
        </p:spPr>
        <p:txBody>
          <a:bodyPr wrap="square" rtlCol="0" anchor="ctr"/>
          <a:lstStyle/>
          <a:p>
            <a:pPr algn="ctr" indent="0" marL="0">
              <a:buNone/>
            </a:pPr>
            <a:r>
              <a:rPr lang="en-US" sz="1300" b="1" dirty="0">
                <a:solidFill>
                  <a:srgbClr val="5FA85D"/>
                </a:solidFill>
                <a:latin typeface="Calibri" pitchFamily="34" charset="0"/>
                <a:ea typeface="Calibri" pitchFamily="34" charset="-122"/>
                <a:cs typeface="Calibri" pitchFamily="34" charset="-120"/>
              </a:rPr>
              <a:t>07</a:t>
            </a:r>
            <a:endParaRPr lang="en-US" sz="1300" dirty="0"/>
          </a:p>
        </p:txBody>
      </p:sp>
      <p:sp>
        <p:nvSpPr>
          <p:cNvPr id="27" name="Text 25"/>
          <p:cNvSpPr/>
          <p:nvPr/>
        </p:nvSpPr>
        <p:spPr>
          <a:xfrm>
            <a:off x="6903720" y="2807208"/>
            <a:ext cx="452628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Technologies Used</a:t>
            </a:r>
            <a:endParaRPr lang="en-US" sz="1500" dirty="0"/>
          </a:p>
        </p:txBody>
      </p:sp>
      <p:sp>
        <p:nvSpPr>
          <p:cNvPr id="28" name="Shape 26"/>
          <p:cNvSpPr/>
          <p:nvPr/>
        </p:nvSpPr>
        <p:spPr>
          <a:xfrm>
            <a:off x="6217920" y="3611880"/>
            <a:ext cx="502920" cy="502920"/>
          </a:xfrm>
          <a:prstGeom prst="roundRect">
            <a:avLst>
              <a:gd name="adj" fmla="val 14545"/>
            </a:avLst>
          </a:prstGeom>
          <a:solidFill>
            <a:srgbClr val="3C6E3A"/>
          </a:solidFill>
          <a:ln/>
        </p:spPr>
      </p:sp>
      <p:sp>
        <p:nvSpPr>
          <p:cNvPr id="29" name="Text 27"/>
          <p:cNvSpPr/>
          <p:nvPr/>
        </p:nvSpPr>
        <p:spPr>
          <a:xfrm>
            <a:off x="6217920" y="3611880"/>
            <a:ext cx="502920" cy="502920"/>
          </a:xfrm>
          <a:prstGeom prst="rect">
            <a:avLst/>
          </a:prstGeom>
          <a:noFill/>
          <a:ln/>
        </p:spPr>
        <p:txBody>
          <a:bodyPr wrap="square" rtlCol="0" anchor="ctr"/>
          <a:lstStyle/>
          <a:p>
            <a:pPr algn="ctr" indent="0" marL="0">
              <a:buNone/>
            </a:pPr>
            <a:r>
              <a:rPr lang="en-US" sz="1300" b="1" dirty="0">
                <a:solidFill>
                  <a:srgbClr val="5FA85D"/>
                </a:solidFill>
                <a:latin typeface="Calibri" pitchFamily="34" charset="0"/>
                <a:ea typeface="Calibri" pitchFamily="34" charset="-122"/>
                <a:cs typeface="Calibri" pitchFamily="34" charset="-120"/>
              </a:rPr>
              <a:t>08</a:t>
            </a:r>
            <a:endParaRPr lang="en-US" sz="1300" dirty="0"/>
          </a:p>
        </p:txBody>
      </p:sp>
      <p:sp>
        <p:nvSpPr>
          <p:cNvPr id="30" name="Text 28"/>
          <p:cNvSpPr/>
          <p:nvPr/>
        </p:nvSpPr>
        <p:spPr>
          <a:xfrm>
            <a:off x="6903720" y="3630168"/>
            <a:ext cx="452628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Key Responsibilities</a:t>
            </a:r>
            <a:endParaRPr lang="en-US" sz="1500" dirty="0"/>
          </a:p>
        </p:txBody>
      </p:sp>
      <p:sp>
        <p:nvSpPr>
          <p:cNvPr id="31" name="Shape 29"/>
          <p:cNvSpPr/>
          <p:nvPr/>
        </p:nvSpPr>
        <p:spPr>
          <a:xfrm>
            <a:off x="6217920" y="4434840"/>
            <a:ext cx="502920" cy="502920"/>
          </a:xfrm>
          <a:prstGeom prst="roundRect">
            <a:avLst>
              <a:gd name="adj" fmla="val 14545"/>
            </a:avLst>
          </a:prstGeom>
          <a:solidFill>
            <a:srgbClr val="3C6E3A"/>
          </a:solidFill>
          <a:ln/>
        </p:spPr>
      </p:sp>
      <p:sp>
        <p:nvSpPr>
          <p:cNvPr id="32" name="Text 30"/>
          <p:cNvSpPr/>
          <p:nvPr/>
        </p:nvSpPr>
        <p:spPr>
          <a:xfrm>
            <a:off x="6217920" y="4434840"/>
            <a:ext cx="502920" cy="502920"/>
          </a:xfrm>
          <a:prstGeom prst="rect">
            <a:avLst/>
          </a:prstGeom>
          <a:noFill/>
          <a:ln/>
        </p:spPr>
        <p:txBody>
          <a:bodyPr wrap="square" rtlCol="0" anchor="ctr"/>
          <a:lstStyle/>
          <a:p>
            <a:pPr algn="ctr" indent="0" marL="0">
              <a:buNone/>
            </a:pPr>
            <a:r>
              <a:rPr lang="en-US" sz="1300" b="1" dirty="0">
                <a:solidFill>
                  <a:srgbClr val="5FA85D"/>
                </a:solidFill>
                <a:latin typeface="Calibri" pitchFamily="34" charset="0"/>
                <a:ea typeface="Calibri" pitchFamily="34" charset="-122"/>
                <a:cs typeface="Calibri" pitchFamily="34" charset="-120"/>
              </a:rPr>
              <a:t>09</a:t>
            </a:r>
            <a:endParaRPr lang="en-US" sz="1300" dirty="0"/>
          </a:p>
        </p:txBody>
      </p:sp>
      <p:sp>
        <p:nvSpPr>
          <p:cNvPr id="33" name="Text 31"/>
          <p:cNvSpPr/>
          <p:nvPr/>
        </p:nvSpPr>
        <p:spPr>
          <a:xfrm>
            <a:off x="6903720" y="4453128"/>
            <a:ext cx="452628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Learning Outcomes</a:t>
            </a:r>
            <a:endParaRPr lang="en-US" sz="1500" dirty="0"/>
          </a:p>
        </p:txBody>
      </p:sp>
      <p:sp>
        <p:nvSpPr>
          <p:cNvPr id="34" name="Shape 32"/>
          <p:cNvSpPr/>
          <p:nvPr/>
        </p:nvSpPr>
        <p:spPr>
          <a:xfrm>
            <a:off x="6217920" y="5257800"/>
            <a:ext cx="502920" cy="502920"/>
          </a:xfrm>
          <a:prstGeom prst="roundRect">
            <a:avLst>
              <a:gd name="adj" fmla="val 14545"/>
            </a:avLst>
          </a:prstGeom>
          <a:solidFill>
            <a:srgbClr val="3C6E3A"/>
          </a:solidFill>
          <a:ln/>
        </p:spPr>
      </p:sp>
      <p:sp>
        <p:nvSpPr>
          <p:cNvPr id="35" name="Text 33"/>
          <p:cNvSpPr/>
          <p:nvPr/>
        </p:nvSpPr>
        <p:spPr>
          <a:xfrm>
            <a:off x="6217920" y="5257800"/>
            <a:ext cx="502920" cy="502920"/>
          </a:xfrm>
          <a:prstGeom prst="rect">
            <a:avLst/>
          </a:prstGeom>
          <a:noFill/>
          <a:ln/>
        </p:spPr>
        <p:txBody>
          <a:bodyPr wrap="square" rtlCol="0" anchor="ctr"/>
          <a:lstStyle/>
          <a:p>
            <a:pPr algn="ctr" indent="0" marL="0">
              <a:buNone/>
            </a:pPr>
            <a:r>
              <a:rPr lang="en-US" sz="1300" b="1" dirty="0">
                <a:solidFill>
                  <a:srgbClr val="5FA85D"/>
                </a:solidFill>
                <a:latin typeface="Calibri" pitchFamily="34" charset="0"/>
                <a:ea typeface="Calibri" pitchFamily="34" charset="-122"/>
                <a:cs typeface="Calibri" pitchFamily="34" charset="-120"/>
              </a:rPr>
              <a:t>10</a:t>
            </a:r>
            <a:endParaRPr lang="en-US" sz="1300" dirty="0"/>
          </a:p>
        </p:txBody>
      </p:sp>
      <p:sp>
        <p:nvSpPr>
          <p:cNvPr id="36" name="Text 34"/>
          <p:cNvSpPr/>
          <p:nvPr/>
        </p:nvSpPr>
        <p:spPr>
          <a:xfrm>
            <a:off x="6903720" y="5276088"/>
            <a:ext cx="4526280" cy="4572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Conclusion</a:t>
            </a:r>
            <a:endParaRPr lang="en-US" sz="1500" dirty="0"/>
          </a:p>
        </p:txBody>
      </p:sp>
      <p:sp>
        <p:nvSpPr>
          <p:cNvPr id="37" name="Text 35"/>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5FA85D">
              <a:alpha val="85000"/>
            </a:srgbClr>
          </a:solidFill>
          <a:ln/>
        </p:spPr>
      </p:sp>
      <p:sp>
        <p:nvSpPr>
          <p:cNvPr id="3" name="Shape 1"/>
          <p:cNvSpPr/>
          <p:nvPr/>
        </p:nvSpPr>
        <p:spPr>
          <a:xfrm>
            <a:off x="-548640" y="5943600"/>
            <a:ext cx="1463040" cy="1463040"/>
          </a:xfrm>
          <a:prstGeom prst="ellipse">
            <a:avLst/>
          </a:prstGeom>
          <a:solidFill>
            <a:srgbClr val="5FA85D">
              <a:alpha val="75000"/>
            </a:srgbClr>
          </a:solidFill>
          <a:ln/>
        </p:spPr>
      </p:sp>
      <p:sp>
        <p:nvSpPr>
          <p:cNvPr id="4" name="Shape 2"/>
          <p:cNvSpPr/>
          <p:nvPr/>
        </p:nvSpPr>
        <p:spPr>
          <a:xfrm>
            <a:off x="457200" y="457200"/>
            <a:ext cx="2377440" cy="365760"/>
          </a:xfrm>
          <a:prstGeom prst="roundRect">
            <a:avLst>
              <a:gd name="adj" fmla="val 20000"/>
            </a:avLst>
          </a:prstGeom>
          <a:solidFill>
            <a:srgbClr val="5FA85D">
              <a:alpha val="9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03  ·  CERTIFICATE</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1B1F23"/>
                </a:solidFill>
                <a:latin typeface="Cambria" pitchFamily="34" charset="0"/>
                <a:ea typeface="Cambria" pitchFamily="34" charset="-122"/>
                <a:cs typeface="Cambria" pitchFamily="34" charset="-120"/>
              </a:rPr>
              <a:t>Internship Completion Certificate</a:t>
            </a:r>
            <a:endParaRPr lang="en-US" sz="3200" dirty="0"/>
          </a:p>
        </p:txBody>
      </p:sp>
      <p:sp>
        <p:nvSpPr>
          <p:cNvPr id="7" name="Text 5"/>
          <p:cNvSpPr/>
          <p:nvPr/>
        </p:nvSpPr>
        <p:spPr>
          <a:xfrm>
            <a:off x="457200" y="1691640"/>
            <a:ext cx="10515600" cy="365760"/>
          </a:xfrm>
          <a:prstGeom prst="rect">
            <a:avLst/>
          </a:prstGeom>
          <a:noFill/>
          <a:ln/>
        </p:spPr>
        <p:txBody>
          <a:bodyPr wrap="square" rtlCol="0" anchor="ctr"/>
          <a:lstStyle/>
          <a:p>
            <a:pPr indent="0" marL="0">
              <a:buNone/>
            </a:pPr>
            <a:r>
              <a:rPr lang="en-US" sz="1250" i="1" dirty="0">
                <a:solidFill>
                  <a:srgbClr val="8A9199"/>
                </a:solidFill>
                <a:latin typeface="Calibri" pitchFamily="34" charset="0"/>
                <a:ea typeface="Calibri" pitchFamily="34" charset="-122"/>
                <a:cs typeface="Calibri" pitchFamily="34" charset="-120"/>
              </a:rPr>
              <a:t>Certificate No. DL/CERT/2026/001   ·   Issued June 15, 2026 by Drasken Labs Private Limited</a:t>
            </a:r>
            <a:endParaRPr lang="en-US" sz="1250" dirty="0"/>
          </a:p>
        </p:txBody>
      </p:sp>
      <p:sp>
        <p:nvSpPr>
          <p:cNvPr id="8" name="Shape 6"/>
          <p:cNvSpPr/>
          <p:nvPr/>
        </p:nvSpPr>
        <p:spPr>
          <a:xfrm>
            <a:off x="457200" y="2286000"/>
            <a:ext cx="10332720" cy="530352"/>
          </a:xfrm>
          <a:prstGeom prst="rect">
            <a:avLst/>
          </a:prstGeom>
          <a:solidFill>
            <a:srgbClr val="FFFFFF"/>
          </a:solidFill>
          <a:ln/>
        </p:spPr>
      </p:sp>
      <p:sp>
        <p:nvSpPr>
          <p:cNvPr id="9" name="Text 7"/>
          <p:cNvSpPr/>
          <p:nvPr/>
        </p:nvSpPr>
        <p:spPr>
          <a:xfrm>
            <a:off x="685800" y="2286000"/>
            <a:ext cx="2743200" cy="530352"/>
          </a:xfrm>
          <a:prstGeom prst="rect">
            <a:avLst/>
          </a:prstGeom>
          <a:noFill/>
          <a:ln/>
        </p:spPr>
        <p:txBody>
          <a:bodyPr wrap="square" rtlCol="0" anchor="ctr"/>
          <a:lstStyle/>
          <a:p>
            <a:pPr indent="0" marL="0">
              <a:buNone/>
            </a:pPr>
            <a:r>
              <a:rPr lang="en-US" sz="1300" b="1" dirty="0">
                <a:solidFill>
                  <a:srgbClr val="3C6E3A"/>
                </a:solidFill>
                <a:latin typeface="Calibri" pitchFamily="34" charset="0"/>
                <a:ea typeface="Calibri" pitchFamily="34" charset="-122"/>
                <a:cs typeface="Calibri" pitchFamily="34" charset="-120"/>
              </a:rPr>
              <a:t>Intern Name</a:t>
            </a:r>
            <a:endParaRPr lang="en-US" sz="1300" dirty="0"/>
          </a:p>
        </p:txBody>
      </p:sp>
      <p:sp>
        <p:nvSpPr>
          <p:cNvPr id="10" name="Text 8"/>
          <p:cNvSpPr/>
          <p:nvPr/>
        </p:nvSpPr>
        <p:spPr>
          <a:xfrm>
            <a:off x="3566160" y="2286000"/>
            <a:ext cx="7040880" cy="530352"/>
          </a:xfrm>
          <a:prstGeom prst="rect">
            <a:avLst/>
          </a:prstGeom>
          <a:noFill/>
          <a:ln/>
        </p:spPr>
        <p:txBody>
          <a:bodyPr wrap="square" rtlCol="0" anchor="ctr"/>
          <a:lstStyle/>
          <a:p>
            <a:pPr indent="0" marL="0">
              <a:buNone/>
            </a:pPr>
            <a:r>
              <a:rPr lang="en-US" sz="1300" dirty="0">
                <a:solidFill>
                  <a:srgbClr val="1B1F23"/>
                </a:solidFill>
                <a:latin typeface="Calibri" pitchFamily="34" charset="0"/>
                <a:ea typeface="Calibri" pitchFamily="34" charset="-122"/>
                <a:cs typeface="Calibri" pitchFamily="34" charset="-120"/>
              </a:rPr>
              <a:t>Kunal Kumar</a:t>
            </a:r>
            <a:endParaRPr lang="en-US" sz="1300" dirty="0"/>
          </a:p>
        </p:txBody>
      </p:sp>
      <p:sp>
        <p:nvSpPr>
          <p:cNvPr id="11" name="Shape 9"/>
          <p:cNvSpPr/>
          <p:nvPr/>
        </p:nvSpPr>
        <p:spPr>
          <a:xfrm>
            <a:off x="457200" y="2816352"/>
            <a:ext cx="10332720" cy="530352"/>
          </a:xfrm>
          <a:prstGeom prst="rect">
            <a:avLst/>
          </a:prstGeom>
          <a:solidFill>
            <a:srgbClr val="ECEFEC"/>
          </a:solidFill>
          <a:ln/>
        </p:spPr>
      </p:sp>
      <p:sp>
        <p:nvSpPr>
          <p:cNvPr id="12" name="Text 10"/>
          <p:cNvSpPr/>
          <p:nvPr/>
        </p:nvSpPr>
        <p:spPr>
          <a:xfrm>
            <a:off x="685800" y="2816352"/>
            <a:ext cx="2743200" cy="530352"/>
          </a:xfrm>
          <a:prstGeom prst="rect">
            <a:avLst/>
          </a:prstGeom>
          <a:noFill/>
          <a:ln/>
        </p:spPr>
        <p:txBody>
          <a:bodyPr wrap="square" rtlCol="0" anchor="ctr"/>
          <a:lstStyle/>
          <a:p>
            <a:pPr indent="0" marL="0">
              <a:buNone/>
            </a:pPr>
            <a:r>
              <a:rPr lang="en-US" sz="1300" b="1" dirty="0">
                <a:solidFill>
                  <a:srgbClr val="3C6E3A"/>
                </a:solidFill>
                <a:latin typeface="Calibri" pitchFamily="34" charset="0"/>
                <a:ea typeface="Calibri" pitchFamily="34" charset="-122"/>
                <a:cs typeface="Calibri" pitchFamily="34" charset="-120"/>
              </a:rPr>
              <a:t>Role</a:t>
            </a:r>
            <a:endParaRPr lang="en-US" sz="1300" dirty="0"/>
          </a:p>
        </p:txBody>
      </p:sp>
      <p:sp>
        <p:nvSpPr>
          <p:cNvPr id="13" name="Text 11"/>
          <p:cNvSpPr/>
          <p:nvPr/>
        </p:nvSpPr>
        <p:spPr>
          <a:xfrm>
            <a:off x="3566160" y="2816352"/>
            <a:ext cx="7040880" cy="530352"/>
          </a:xfrm>
          <a:prstGeom prst="rect">
            <a:avLst/>
          </a:prstGeom>
          <a:noFill/>
          <a:ln/>
        </p:spPr>
        <p:txBody>
          <a:bodyPr wrap="square" rtlCol="0" anchor="ctr"/>
          <a:lstStyle/>
          <a:p>
            <a:pPr indent="0" marL="0">
              <a:buNone/>
            </a:pPr>
            <a:r>
              <a:rPr lang="en-US" sz="1300" dirty="0">
                <a:solidFill>
                  <a:srgbClr val="1B1F23"/>
                </a:solidFill>
                <a:latin typeface="Calibri" pitchFamily="34" charset="0"/>
                <a:ea typeface="Calibri" pitchFamily="34" charset="-122"/>
                <a:cs typeface="Calibri" pitchFamily="34" charset="-120"/>
              </a:rPr>
              <a:t>Node.js Developer Intern</a:t>
            </a:r>
            <a:endParaRPr lang="en-US" sz="1300" dirty="0"/>
          </a:p>
        </p:txBody>
      </p:sp>
      <p:sp>
        <p:nvSpPr>
          <p:cNvPr id="14" name="Shape 12"/>
          <p:cNvSpPr/>
          <p:nvPr/>
        </p:nvSpPr>
        <p:spPr>
          <a:xfrm>
            <a:off x="457200" y="3346704"/>
            <a:ext cx="10332720" cy="530352"/>
          </a:xfrm>
          <a:prstGeom prst="rect">
            <a:avLst/>
          </a:prstGeom>
          <a:solidFill>
            <a:srgbClr val="FFFFFF"/>
          </a:solidFill>
          <a:ln/>
        </p:spPr>
      </p:sp>
      <p:sp>
        <p:nvSpPr>
          <p:cNvPr id="15" name="Text 13"/>
          <p:cNvSpPr/>
          <p:nvPr/>
        </p:nvSpPr>
        <p:spPr>
          <a:xfrm>
            <a:off x="685800" y="3346704"/>
            <a:ext cx="2743200" cy="530352"/>
          </a:xfrm>
          <a:prstGeom prst="rect">
            <a:avLst/>
          </a:prstGeom>
          <a:noFill/>
          <a:ln/>
        </p:spPr>
        <p:txBody>
          <a:bodyPr wrap="square" rtlCol="0" anchor="ctr"/>
          <a:lstStyle/>
          <a:p>
            <a:pPr indent="0" marL="0">
              <a:buNone/>
            </a:pPr>
            <a:r>
              <a:rPr lang="en-US" sz="1300" b="1" dirty="0">
                <a:solidFill>
                  <a:srgbClr val="3C6E3A"/>
                </a:solidFill>
                <a:latin typeface="Calibri" pitchFamily="34" charset="0"/>
                <a:ea typeface="Calibri" pitchFamily="34" charset="-122"/>
                <a:cs typeface="Calibri" pitchFamily="34" charset="-120"/>
              </a:rPr>
              <a:t>Team</a:t>
            </a:r>
            <a:endParaRPr lang="en-US" sz="1300" dirty="0"/>
          </a:p>
        </p:txBody>
      </p:sp>
      <p:sp>
        <p:nvSpPr>
          <p:cNvPr id="16" name="Text 14"/>
          <p:cNvSpPr/>
          <p:nvPr/>
        </p:nvSpPr>
        <p:spPr>
          <a:xfrm>
            <a:off x="3566160" y="3346704"/>
            <a:ext cx="7040880" cy="530352"/>
          </a:xfrm>
          <a:prstGeom prst="rect">
            <a:avLst/>
          </a:prstGeom>
          <a:noFill/>
          <a:ln/>
        </p:spPr>
        <p:txBody>
          <a:bodyPr wrap="square" rtlCol="0" anchor="ctr"/>
          <a:lstStyle/>
          <a:p>
            <a:pPr indent="0" marL="0">
              <a:buNone/>
            </a:pPr>
            <a:r>
              <a:rPr lang="en-US" sz="1300" dirty="0">
                <a:solidFill>
                  <a:srgbClr val="1B1F23"/>
                </a:solidFill>
                <a:latin typeface="Calibri" pitchFamily="34" charset="0"/>
                <a:ea typeface="Calibri" pitchFamily="34" charset="-122"/>
                <a:cs typeface="Calibri" pitchFamily="34" charset="-120"/>
              </a:rPr>
              <a:t>HRMS Development Team</a:t>
            </a:r>
            <a:endParaRPr lang="en-US" sz="1300" dirty="0"/>
          </a:p>
        </p:txBody>
      </p:sp>
      <p:sp>
        <p:nvSpPr>
          <p:cNvPr id="17" name="Shape 15"/>
          <p:cNvSpPr/>
          <p:nvPr/>
        </p:nvSpPr>
        <p:spPr>
          <a:xfrm>
            <a:off x="457200" y="3877056"/>
            <a:ext cx="10332720" cy="530352"/>
          </a:xfrm>
          <a:prstGeom prst="rect">
            <a:avLst/>
          </a:prstGeom>
          <a:solidFill>
            <a:srgbClr val="ECEFEC"/>
          </a:solidFill>
          <a:ln/>
        </p:spPr>
      </p:sp>
      <p:sp>
        <p:nvSpPr>
          <p:cNvPr id="18" name="Text 16"/>
          <p:cNvSpPr/>
          <p:nvPr/>
        </p:nvSpPr>
        <p:spPr>
          <a:xfrm>
            <a:off x="685800" y="3877056"/>
            <a:ext cx="2743200" cy="530352"/>
          </a:xfrm>
          <a:prstGeom prst="rect">
            <a:avLst/>
          </a:prstGeom>
          <a:noFill/>
          <a:ln/>
        </p:spPr>
        <p:txBody>
          <a:bodyPr wrap="square" rtlCol="0" anchor="ctr"/>
          <a:lstStyle/>
          <a:p>
            <a:pPr indent="0" marL="0">
              <a:buNone/>
            </a:pPr>
            <a:r>
              <a:rPr lang="en-US" sz="1300" b="1" dirty="0">
                <a:solidFill>
                  <a:srgbClr val="3C6E3A"/>
                </a:solidFill>
                <a:latin typeface="Calibri" pitchFamily="34" charset="0"/>
                <a:ea typeface="Calibri" pitchFamily="34" charset="-122"/>
                <a:cs typeface="Calibri" pitchFamily="34" charset="-120"/>
              </a:rPr>
              <a:t>Domain</a:t>
            </a:r>
            <a:endParaRPr lang="en-US" sz="1300" dirty="0"/>
          </a:p>
        </p:txBody>
      </p:sp>
      <p:sp>
        <p:nvSpPr>
          <p:cNvPr id="19" name="Text 17"/>
          <p:cNvSpPr/>
          <p:nvPr/>
        </p:nvSpPr>
        <p:spPr>
          <a:xfrm>
            <a:off x="3566160" y="3877056"/>
            <a:ext cx="7040880" cy="530352"/>
          </a:xfrm>
          <a:prstGeom prst="rect">
            <a:avLst/>
          </a:prstGeom>
          <a:noFill/>
          <a:ln/>
        </p:spPr>
        <p:txBody>
          <a:bodyPr wrap="square" rtlCol="0" anchor="ctr"/>
          <a:lstStyle/>
          <a:p>
            <a:pPr indent="0" marL="0">
              <a:buNone/>
            </a:pPr>
            <a:r>
              <a:rPr lang="en-US" sz="1300" dirty="0">
                <a:solidFill>
                  <a:srgbClr val="1B1F23"/>
                </a:solidFill>
                <a:latin typeface="Calibri" pitchFamily="34" charset="0"/>
                <a:ea typeface="Calibri" pitchFamily="34" charset="-122"/>
                <a:cs typeface="Calibri" pitchFamily="34" charset="-120"/>
              </a:rPr>
              <a:t>Node.js Development / Web Development</a:t>
            </a:r>
            <a:endParaRPr lang="en-US" sz="1300" dirty="0"/>
          </a:p>
        </p:txBody>
      </p:sp>
      <p:sp>
        <p:nvSpPr>
          <p:cNvPr id="20" name="Shape 18"/>
          <p:cNvSpPr/>
          <p:nvPr/>
        </p:nvSpPr>
        <p:spPr>
          <a:xfrm>
            <a:off x="457200" y="4407408"/>
            <a:ext cx="10332720" cy="530352"/>
          </a:xfrm>
          <a:prstGeom prst="rect">
            <a:avLst/>
          </a:prstGeom>
          <a:solidFill>
            <a:srgbClr val="FFFFFF"/>
          </a:solidFill>
          <a:ln/>
        </p:spPr>
      </p:sp>
      <p:sp>
        <p:nvSpPr>
          <p:cNvPr id="21" name="Text 19"/>
          <p:cNvSpPr/>
          <p:nvPr/>
        </p:nvSpPr>
        <p:spPr>
          <a:xfrm>
            <a:off x="685800" y="4407408"/>
            <a:ext cx="2743200" cy="530352"/>
          </a:xfrm>
          <a:prstGeom prst="rect">
            <a:avLst/>
          </a:prstGeom>
          <a:noFill/>
          <a:ln/>
        </p:spPr>
        <p:txBody>
          <a:bodyPr wrap="square" rtlCol="0" anchor="ctr"/>
          <a:lstStyle/>
          <a:p>
            <a:pPr indent="0" marL="0">
              <a:buNone/>
            </a:pPr>
            <a:r>
              <a:rPr lang="en-US" sz="1300" b="1" dirty="0">
                <a:solidFill>
                  <a:srgbClr val="3C6E3A"/>
                </a:solidFill>
                <a:latin typeface="Calibri" pitchFamily="34" charset="0"/>
                <a:ea typeface="Calibri" pitchFamily="34" charset="-122"/>
                <a:cs typeface="Calibri" pitchFamily="34" charset="-120"/>
              </a:rPr>
              <a:t>Work Mode</a:t>
            </a:r>
            <a:endParaRPr lang="en-US" sz="1300" dirty="0"/>
          </a:p>
        </p:txBody>
      </p:sp>
      <p:sp>
        <p:nvSpPr>
          <p:cNvPr id="22" name="Text 20"/>
          <p:cNvSpPr/>
          <p:nvPr/>
        </p:nvSpPr>
        <p:spPr>
          <a:xfrm>
            <a:off x="3566160" y="4407408"/>
            <a:ext cx="7040880" cy="530352"/>
          </a:xfrm>
          <a:prstGeom prst="rect">
            <a:avLst/>
          </a:prstGeom>
          <a:noFill/>
          <a:ln/>
        </p:spPr>
        <p:txBody>
          <a:bodyPr wrap="square" rtlCol="0" anchor="ctr"/>
          <a:lstStyle/>
          <a:p>
            <a:pPr indent="0" marL="0">
              <a:buNone/>
            </a:pPr>
            <a:r>
              <a:rPr lang="en-US" sz="1300" dirty="0">
                <a:solidFill>
                  <a:srgbClr val="1B1F23"/>
                </a:solidFill>
                <a:latin typeface="Calibri" pitchFamily="34" charset="0"/>
                <a:ea typeface="Calibri" pitchFamily="34" charset="-122"/>
                <a:cs typeface="Calibri" pitchFamily="34" charset="-120"/>
              </a:rPr>
              <a:t>Remote – Work From Home (WFH)</a:t>
            </a:r>
            <a:endParaRPr lang="en-US" sz="1300" dirty="0"/>
          </a:p>
        </p:txBody>
      </p:sp>
      <p:sp>
        <p:nvSpPr>
          <p:cNvPr id="23" name="Shape 21"/>
          <p:cNvSpPr/>
          <p:nvPr/>
        </p:nvSpPr>
        <p:spPr>
          <a:xfrm>
            <a:off x="457200" y="4937760"/>
            <a:ext cx="10332720" cy="530352"/>
          </a:xfrm>
          <a:prstGeom prst="rect">
            <a:avLst/>
          </a:prstGeom>
          <a:solidFill>
            <a:srgbClr val="ECEFEC"/>
          </a:solidFill>
          <a:ln/>
        </p:spPr>
      </p:sp>
      <p:sp>
        <p:nvSpPr>
          <p:cNvPr id="24" name="Text 22"/>
          <p:cNvSpPr/>
          <p:nvPr/>
        </p:nvSpPr>
        <p:spPr>
          <a:xfrm>
            <a:off x="685800" y="4937760"/>
            <a:ext cx="2743200" cy="530352"/>
          </a:xfrm>
          <a:prstGeom prst="rect">
            <a:avLst/>
          </a:prstGeom>
          <a:noFill/>
          <a:ln/>
        </p:spPr>
        <p:txBody>
          <a:bodyPr wrap="square" rtlCol="0" anchor="ctr"/>
          <a:lstStyle/>
          <a:p>
            <a:pPr indent="0" marL="0">
              <a:buNone/>
            </a:pPr>
            <a:r>
              <a:rPr lang="en-US" sz="1300" b="1" dirty="0">
                <a:solidFill>
                  <a:srgbClr val="3C6E3A"/>
                </a:solidFill>
                <a:latin typeface="Calibri" pitchFamily="34" charset="0"/>
                <a:ea typeface="Calibri" pitchFamily="34" charset="-122"/>
                <a:cs typeface="Calibri" pitchFamily="34" charset="-120"/>
              </a:rPr>
              <a:t>Duration</a:t>
            </a:r>
            <a:endParaRPr lang="en-US" sz="1300" dirty="0"/>
          </a:p>
        </p:txBody>
      </p:sp>
      <p:sp>
        <p:nvSpPr>
          <p:cNvPr id="25" name="Text 23"/>
          <p:cNvSpPr/>
          <p:nvPr/>
        </p:nvSpPr>
        <p:spPr>
          <a:xfrm>
            <a:off x="3566160" y="4937760"/>
            <a:ext cx="7040880" cy="530352"/>
          </a:xfrm>
          <a:prstGeom prst="rect">
            <a:avLst/>
          </a:prstGeom>
          <a:noFill/>
          <a:ln/>
        </p:spPr>
        <p:txBody>
          <a:bodyPr wrap="square" rtlCol="0" anchor="ctr"/>
          <a:lstStyle/>
          <a:p>
            <a:pPr indent="0" marL="0">
              <a:buNone/>
            </a:pPr>
            <a:r>
              <a:rPr lang="en-US" sz="1300" dirty="0">
                <a:solidFill>
                  <a:srgbClr val="1B1F23"/>
                </a:solidFill>
                <a:latin typeface="Calibri" pitchFamily="34" charset="0"/>
                <a:ea typeface="Calibri" pitchFamily="34" charset="-122"/>
                <a:cs typeface="Calibri" pitchFamily="34" charset="-120"/>
              </a:rPr>
              <a:t>January 15, 2026 – June 15, 2026 (5 months)</a:t>
            </a:r>
            <a:endParaRPr lang="en-US" sz="1300" dirty="0"/>
          </a:p>
        </p:txBody>
      </p:sp>
      <p:sp>
        <p:nvSpPr>
          <p:cNvPr id="26" name="Shape 24"/>
          <p:cNvSpPr/>
          <p:nvPr/>
        </p:nvSpPr>
        <p:spPr>
          <a:xfrm>
            <a:off x="457200" y="5468112"/>
            <a:ext cx="10332720" cy="530352"/>
          </a:xfrm>
          <a:prstGeom prst="rect">
            <a:avLst/>
          </a:prstGeom>
          <a:solidFill>
            <a:srgbClr val="FFFFFF"/>
          </a:solidFill>
          <a:ln/>
        </p:spPr>
      </p:sp>
      <p:sp>
        <p:nvSpPr>
          <p:cNvPr id="27" name="Text 25"/>
          <p:cNvSpPr/>
          <p:nvPr/>
        </p:nvSpPr>
        <p:spPr>
          <a:xfrm>
            <a:off x="685800" y="5468112"/>
            <a:ext cx="2743200" cy="530352"/>
          </a:xfrm>
          <a:prstGeom prst="rect">
            <a:avLst/>
          </a:prstGeom>
          <a:noFill/>
          <a:ln/>
        </p:spPr>
        <p:txBody>
          <a:bodyPr wrap="square" rtlCol="0" anchor="ctr"/>
          <a:lstStyle/>
          <a:p>
            <a:pPr indent="0" marL="0">
              <a:buNone/>
            </a:pPr>
            <a:r>
              <a:rPr lang="en-US" sz="1300" b="1" dirty="0">
                <a:solidFill>
                  <a:srgbClr val="3C6E3A"/>
                </a:solidFill>
                <a:latin typeface="Calibri" pitchFamily="34" charset="0"/>
                <a:ea typeface="Calibri" pitchFamily="34" charset="-122"/>
                <a:cs typeface="Calibri" pitchFamily="34" charset="-120"/>
              </a:rPr>
              <a:t>Issued By</a:t>
            </a:r>
            <a:endParaRPr lang="en-US" sz="1300" dirty="0"/>
          </a:p>
        </p:txBody>
      </p:sp>
      <p:sp>
        <p:nvSpPr>
          <p:cNvPr id="28" name="Text 26"/>
          <p:cNvSpPr/>
          <p:nvPr/>
        </p:nvSpPr>
        <p:spPr>
          <a:xfrm>
            <a:off x="3566160" y="5468112"/>
            <a:ext cx="7040880" cy="530352"/>
          </a:xfrm>
          <a:prstGeom prst="rect">
            <a:avLst/>
          </a:prstGeom>
          <a:noFill/>
          <a:ln/>
        </p:spPr>
        <p:txBody>
          <a:bodyPr wrap="square" rtlCol="0" anchor="ctr"/>
          <a:lstStyle/>
          <a:p>
            <a:pPr indent="0" marL="0">
              <a:buNone/>
            </a:pPr>
            <a:r>
              <a:rPr lang="en-US" sz="1300" dirty="0">
                <a:solidFill>
                  <a:srgbClr val="1B1F23"/>
                </a:solidFill>
                <a:latin typeface="Calibri" pitchFamily="34" charset="0"/>
                <a:ea typeface="Calibri" pitchFamily="34" charset="-122"/>
                <a:cs typeface="Calibri" pitchFamily="34" charset="-120"/>
              </a:rPr>
              <a:t>Himanshu Aggarwal, Chief Operating Officer</a:t>
            </a:r>
            <a:endParaRPr lang="en-US" sz="1300" dirty="0"/>
          </a:p>
        </p:txBody>
      </p:sp>
      <p:sp>
        <p:nvSpPr>
          <p:cNvPr id="29" name="Shape 27"/>
          <p:cNvSpPr/>
          <p:nvPr/>
        </p:nvSpPr>
        <p:spPr>
          <a:xfrm>
            <a:off x="457200" y="2286000"/>
            <a:ext cx="0" cy="3712464"/>
          </a:xfrm>
          <a:prstGeom prst="line">
            <a:avLst/>
          </a:prstGeom>
          <a:noFill/>
          <a:ln w="38100">
            <a:solidFill>
              <a:srgbClr val="5FA85D"/>
            </a:solidFill>
            <a:prstDash val="solid"/>
          </a:ln>
        </p:spPr>
      </p:sp>
      <p:sp>
        <p:nvSpPr>
          <p:cNvPr id="30" name="Text 28"/>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5FA85D">
              <a:alpha val="85000"/>
            </a:srgbClr>
          </a:solidFill>
          <a:ln/>
        </p:spPr>
      </p:sp>
      <p:sp>
        <p:nvSpPr>
          <p:cNvPr id="3" name="Shape 1"/>
          <p:cNvSpPr/>
          <p:nvPr/>
        </p:nvSpPr>
        <p:spPr>
          <a:xfrm>
            <a:off x="-548640" y="5943600"/>
            <a:ext cx="1463040" cy="1463040"/>
          </a:xfrm>
          <a:prstGeom prst="ellipse">
            <a:avLst/>
          </a:prstGeom>
          <a:solidFill>
            <a:srgbClr val="5FA85D">
              <a:alpha val="75000"/>
            </a:srgbClr>
          </a:solidFill>
          <a:ln/>
        </p:spPr>
      </p:sp>
      <p:sp>
        <p:nvSpPr>
          <p:cNvPr id="4" name="Shape 2"/>
          <p:cNvSpPr/>
          <p:nvPr/>
        </p:nvSpPr>
        <p:spPr>
          <a:xfrm>
            <a:off x="457200" y="457200"/>
            <a:ext cx="2377440" cy="365760"/>
          </a:xfrm>
          <a:prstGeom prst="roundRect">
            <a:avLst>
              <a:gd name="adj" fmla="val 20000"/>
            </a:avLst>
          </a:prstGeom>
          <a:solidFill>
            <a:srgbClr val="5FA85D">
              <a:alpha val="9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04  ·  OFFER LETTER</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1B1F23"/>
                </a:solidFill>
                <a:latin typeface="Cambria" pitchFamily="34" charset="0"/>
                <a:ea typeface="Cambria" pitchFamily="34" charset="-122"/>
                <a:cs typeface="Cambria" pitchFamily="34" charset="-120"/>
              </a:rPr>
              <a:t>Internship Offer Letter</a:t>
            </a:r>
            <a:endParaRPr lang="en-US" sz="3200" dirty="0"/>
          </a:p>
        </p:txBody>
      </p:sp>
      <p:sp>
        <p:nvSpPr>
          <p:cNvPr id="7" name="Shape 5"/>
          <p:cNvSpPr/>
          <p:nvPr/>
        </p:nvSpPr>
        <p:spPr>
          <a:xfrm>
            <a:off x="457200" y="1874520"/>
            <a:ext cx="5394960" cy="4160520"/>
          </a:xfrm>
          <a:prstGeom prst="roundRect">
            <a:avLst>
              <a:gd name="adj" fmla="val 2198"/>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8" name="Text 6"/>
          <p:cNvSpPr/>
          <p:nvPr/>
        </p:nvSpPr>
        <p:spPr>
          <a:xfrm>
            <a:off x="731520" y="2103120"/>
            <a:ext cx="4754880" cy="365760"/>
          </a:xfrm>
          <a:prstGeom prst="rect">
            <a:avLst/>
          </a:prstGeom>
          <a:noFill/>
          <a:ln/>
        </p:spPr>
        <p:txBody>
          <a:bodyPr wrap="square" rtlCol="0" anchor="ctr"/>
          <a:lstStyle/>
          <a:p>
            <a:pPr indent="0" marL="0">
              <a:buNone/>
            </a:pPr>
            <a:r>
              <a:rPr lang="en-US" sz="1600" b="1" dirty="0">
                <a:solidFill>
                  <a:srgbClr val="1B1F23"/>
                </a:solidFill>
                <a:latin typeface="Cambria" pitchFamily="34" charset="0"/>
                <a:ea typeface="Cambria" pitchFamily="34" charset="-122"/>
                <a:cs typeface="Cambria" pitchFamily="34" charset="-120"/>
              </a:rPr>
              <a:t>Internship Details</a:t>
            </a:r>
            <a:endParaRPr lang="en-US" sz="1600" dirty="0"/>
          </a:p>
        </p:txBody>
      </p:sp>
      <p:sp>
        <p:nvSpPr>
          <p:cNvPr id="9" name="Text 7"/>
          <p:cNvSpPr/>
          <p:nvPr/>
        </p:nvSpPr>
        <p:spPr>
          <a:xfrm>
            <a:off x="731520" y="2560320"/>
            <a:ext cx="4754880" cy="1737360"/>
          </a:xfrm>
          <a:prstGeom prst="rect">
            <a:avLst/>
          </a:prstGeom>
          <a:noFill/>
          <a:ln/>
        </p:spPr>
        <p:txBody>
          <a:bodyPr wrap="square" rtlCol="0" anchor="t"/>
          <a:lstStyle/>
          <a:p>
            <a:pPr marL="342900" indent="-342900">
              <a:lnSpc>
                <a:spcPct val="130000"/>
              </a:lnSpc>
              <a:buSzPct val="100000"/>
              <a:buChar char="▪"/>
            </a:pPr>
            <a:r>
              <a:rPr lang="en-US" sz="1250" dirty="0">
                <a:solidFill>
                  <a:srgbClr val="333333"/>
                </a:solidFill>
                <a:latin typeface="Calibri" pitchFamily="34" charset="0"/>
                <a:ea typeface="Calibri" pitchFamily="34" charset="-122"/>
                <a:cs typeface="Calibri" pitchFamily="34" charset="-120"/>
              </a:rPr>
              <a:t>Role: Node.js Developer Intern</a:t>
            </a:r>
            <a:endParaRPr lang="en-US" sz="1250" dirty="0"/>
          </a:p>
          <a:p>
            <a:pPr marL="342900" indent="-342900">
              <a:lnSpc>
                <a:spcPct val="130000"/>
              </a:lnSpc>
              <a:buSzPct val="100000"/>
              <a:buChar char="▪"/>
            </a:pPr>
            <a:r>
              <a:rPr lang="en-US" sz="1250" dirty="0">
                <a:solidFill>
                  <a:srgbClr val="333333"/>
                </a:solidFill>
                <a:latin typeface="Calibri" pitchFamily="34" charset="0"/>
                <a:ea typeface="Calibri" pitchFamily="34" charset="-122"/>
                <a:cs typeface="Calibri" pitchFamily="34" charset="-120"/>
              </a:rPr>
              <a:t>Duration: Feb 16, 2026 – Aug 16, 2026 (offered term)</a:t>
            </a:r>
            <a:endParaRPr lang="en-US" sz="1250" dirty="0"/>
          </a:p>
          <a:p>
            <a:pPr marL="342900" indent="-342900">
              <a:lnSpc>
                <a:spcPct val="130000"/>
              </a:lnSpc>
              <a:buSzPct val="100000"/>
              <a:buChar char="▪"/>
            </a:pPr>
            <a:r>
              <a:rPr lang="en-US" sz="1250" dirty="0">
                <a:solidFill>
                  <a:srgbClr val="333333"/>
                </a:solidFill>
                <a:latin typeface="Calibri" pitchFamily="34" charset="0"/>
                <a:ea typeface="Calibri" pitchFamily="34" charset="-122"/>
                <a:cs typeface="Calibri" pitchFamily="34" charset="-120"/>
              </a:rPr>
              <a:t>Location: Remote / Work From Home</a:t>
            </a:r>
            <a:endParaRPr lang="en-US" sz="1250" dirty="0"/>
          </a:p>
          <a:p>
            <a:pPr marL="342900" indent="-342900">
              <a:lnSpc>
                <a:spcPct val="130000"/>
              </a:lnSpc>
              <a:buSzPct val="100000"/>
              <a:buChar char="▪"/>
            </a:pPr>
            <a:r>
              <a:rPr lang="en-US" sz="1250" dirty="0">
                <a:solidFill>
                  <a:srgbClr val="333333"/>
                </a:solidFill>
                <a:latin typeface="Calibri" pitchFamily="34" charset="0"/>
                <a:ea typeface="Calibri" pitchFamily="34" charset="-122"/>
                <a:cs typeface="Calibri" pitchFamily="34" charset="-120"/>
              </a:rPr>
              <a:t>Compensation: Unpaid — focused on learning and professional development</a:t>
            </a:r>
            <a:endParaRPr lang="en-US" sz="1250" dirty="0"/>
          </a:p>
        </p:txBody>
      </p:sp>
      <p:sp>
        <p:nvSpPr>
          <p:cNvPr id="10" name="Text 8"/>
          <p:cNvSpPr/>
          <p:nvPr/>
        </p:nvSpPr>
        <p:spPr>
          <a:xfrm>
            <a:off x="731520" y="4343400"/>
            <a:ext cx="4754880" cy="365760"/>
          </a:xfrm>
          <a:prstGeom prst="rect">
            <a:avLst/>
          </a:prstGeom>
          <a:noFill/>
          <a:ln/>
        </p:spPr>
        <p:txBody>
          <a:bodyPr wrap="square" rtlCol="0" anchor="ctr"/>
          <a:lstStyle/>
          <a:p>
            <a:pPr indent="0" marL="0">
              <a:buNone/>
            </a:pPr>
            <a:r>
              <a:rPr lang="en-US" sz="1600" b="1" dirty="0">
                <a:solidFill>
                  <a:srgbClr val="1B1F23"/>
                </a:solidFill>
                <a:latin typeface="Cambria" pitchFamily="34" charset="0"/>
                <a:ea typeface="Cambria" pitchFamily="34" charset="-122"/>
                <a:cs typeface="Cambria" pitchFamily="34" charset="-120"/>
              </a:rPr>
              <a:t>Scope of Work</a:t>
            </a:r>
            <a:endParaRPr lang="en-US" sz="1600" dirty="0"/>
          </a:p>
        </p:txBody>
      </p:sp>
      <p:sp>
        <p:nvSpPr>
          <p:cNvPr id="11" name="Text 9"/>
          <p:cNvSpPr/>
          <p:nvPr/>
        </p:nvSpPr>
        <p:spPr>
          <a:xfrm>
            <a:off x="731520" y="4754880"/>
            <a:ext cx="4754880" cy="1188720"/>
          </a:xfrm>
          <a:prstGeom prst="rect">
            <a:avLst/>
          </a:prstGeom>
          <a:noFill/>
          <a:ln/>
        </p:spPr>
        <p:txBody>
          <a:bodyPr wrap="square" rtlCol="0" anchor="t"/>
          <a:lstStyle/>
          <a:p>
            <a:pPr marL="342900" indent="-342900">
              <a:lnSpc>
                <a:spcPct val="125000"/>
              </a:lnSpc>
              <a:buSzPct val="100000"/>
              <a:buChar char="▪"/>
            </a:pPr>
            <a:r>
              <a:rPr lang="en-US" sz="1200" dirty="0">
                <a:solidFill>
                  <a:srgbClr val="333333"/>
                </a:solidFill>
                <a:latin typeface="Calibri" pitchFamily="34" charset="0"/>
                <a:ea typeface="Calibri" pitchFamily="34" charset="-122"/>
                <a:cs typeface="Calibri" pitchFamily="34" charset="-120"/>
              </a:rPr>
              <a:t>Developing server-side logic using Node.js</a:t>
            </a:r>
            <a:endParaRPr lang="en-US" sz="1200" dirty="0"/>
          </a:p>
          <a:p>
            <a:pPr marL="342900" indent="-342900">
              <a:lnSpc>
                <a:spcPct val="125000"/>
              </a:lnSpc>
              <a:buSzPct val="100000"/>
              <a:buChar char="▪"/>
            </a:pPr>
            <a:r>
              <a:rPr lang="en-US" sz="1200" dirty="0">
                <a:solidFill>
                  <a:srgbClr val="333333"/>
                </a:solidFill>
                <a:latin typeface="Calibri" pitchFamily="34" charset="0"/>
                <a:ea typeface="Calibri" pitchFamily="34" charset="-122"/>
                <a:cs typeface="Calibri" pitchFamily="34" charset="-120"/>
              </a:rPr>
              <a:t>Integrating backend with databases (PostgreSQL / Valkey)</a:t>
            </a:r>
            <a:endParaRPr lang="en-US" sz="1200" dirty="0"/>
          </a:p>
          <a:p>
            <a:pPr marL="342900" indent="-342900">
              <a:lnSpc>
                <a:spcPct val="125000"/>
              </a:lnSpc>
              <a:buSzPct val="100000"/>
              <a:buChar char="▪"/>
            </a:pPr>
            <a:r>
              <a:rPr lang="en-US" sz="1200" dirty="0">
                <a:solidFill>
                  <a:srgbClr val="333333"/>
                </a:solidFill>
                <a:latin typeface="Calibri" pitchFamily="34" charset="0"/>
                <a:ea typeface="Calibri" pitchFamily="34" charset="-122"/>
                <a:cs typeface="Calibri" pitchFamily="34" charset="-120"/>
              </a:rPr>
              <a:t>Collaborating on API design and implementation</a:t>
            </a:r>
            <a:endParaRPr lang="en-US" sz="1200" dirty="0"/>
          </a:p>
          <a:p>
            <a:pPr marL="342900" indent="-342900">
              <a:lnSpc>
                <a:spcPct val="125000"/>
              </a:lnSpc>
              <a:buSzPct val="100000"/>
              <a:buChar char="▪"/>
            </a:pPr>
            <a:r>
              <a:rPr lang="en-US" sz="1200" dirty="0">
                <a:solidFill>
                  <a:srgbClr val="333333"/>
                </a:solidFill>
                <a:latin typeface="Calibri" pitchFamily="34" charset="0"/>
                <a:ea typeface="Calibri" pitchFamily="34" charset="-122"/>
                <a:cs typeface="Calibri" pitchFamily="34" charset="-120"/>
              </a:rPr>
              <a:t>Assisting with deployment on K3s / Docker</a:t>
            </a:r>
            <a:endParaRPr lang="en-US" sz="1200" dirty="0"/>
          </a:p>
        </p:txBody>
      </p:sp>
      <p:sp>
        <p:nvSpPr>
          <p:cNvPr id="12" name="Shape 10"/>
          <p:cNvSpPr/>
          <p:nvPr/>
        </p:nvSpPr>
        <p:spPr>
          <a:xfrm>
            <a:off x="6126480" y="1874520"/>
            <a:ext cx="5577840" cy="4160520"/>
          </a:xfrm>
          <a:prstGeom prst="roundRect">
            <a:avLst>
              <a:gd name="adj" fmla="val 2198"/>
            </a:avLst>
          </a:prstGeom>
          <a:solidFill>
            <a:srgbClr val="1B1F23"/>
          </a:solidFill>
          <a:ln/>
        </p:spPr>
      </p:sp>
      <p:sp>
        <p:nvSpPr>
          <p:cNvPr id="13" name="Text 11"/>
          <p:cNvSpPr/>
          <p:nvPr/>
        </p:nvSpPr>
        <p:spPr>
          <a:xfrm>
            <a:off x="6400800" y="2103120"/>
            <a:ext cx="5029200" cy="365760"/>
          </a:xfrm>
          <a:prstGeom prst="rect">
            <a:avLst/>
          </a:prstGeom>
          <a:noFill/>
          <a:ln/>
        </p:spPr>
        <p:txBody>
          <a:bodyPr wrap="square" rtlCol="0" anchor="ctr"/>
          <a:lstStyle/>
          <a:p>
            <a:pPr indent="0" marL="0">
              <a:buNone/>
            </a:pPr>
            <a:r>
              <a:rPr lang="en-US" sz="1600" b="1" dirty="0">
                <a:solidFill>
                  <a:srgbClr val="5FA85D"/>
                </a:solidFill>
                <a:latin typeface="Cambria" pitchFamily="34" charset="0"/>
                <a:ea typeface="Cambria" pitchFamily="34" charset="-122"/>
                <a:cs typeface="Cambria" pitchFamily="34" charset="-120"/>
              </a:rPr>
              <a:t>Terms &amp; Conditions</a:t>
            </a:r>
            <a:endParaRPr lang="en-US" sz="1600" dirty="0"/>
          </a:p>
        </p:txBody>
      </p:sp>
      <p:sp>
        <p:nvSpPr>
          <p:cNvPr id="14" name="Text 12"/>
          <p:cNvSpPr/>
          <p:nvPr/>
        </p:nvSpPr>
        <p:spPr>
          <a:xfrm>
            <a:off x="6400800" y="2606040"/>
            <a:ext cx="5029200" cy="2377440"/>
          </a:xfrm>
          <a:prstGeom prst="rect">
            <a:avLst/>
          </a:prstGeom>
          <a:noFill/>
          <a:ln/>
        </p:spPr>
        <p:txBody>
          <a:bodyPr wrap="square" rtlCol="0" anchor="t"/>
          <a:lstStyle/>
          <a:p>
            <a:pPr marL="342900" indent="-342900">
              <a:lnSpc>
                <a:spcPct val="135000"/>
              </a:lnSpc>
              <a:buSzPct val="100000"/>
              <a:buChar char="▪"/>
            </a:pPr>
            <a:r>
              <a:rPr lang="en-US" sz="1250" dirty="0">
                <a:solidFill>
                  <a:srgbClr val="F4F4F2"/>
                </a:solidFill>
                <a:latin typeface="Calibri" pitchFamily="34" charset="0"/>
                <a:ea typeface="Calibri" pitchFamily="34" charset="-122"/>
                <a:cs typeface="Calibri" pitchFamily="34" charset="-120"/>
              </a:rPr>
              <a:t>Equipment: Own computer and stable internet required (remote role)</a:t>
            </a:r>
            <a:endParaRPr lang="en-US" sz="1250" dirty="0"/>
          </a:p>
          <a:p>
            <a:pPr marL="342900" indent="-342900">
              <a:lnSpc>
                <a:spcPct val="135000"/>
              </a:lnSpc>
              <a:buSzPct val="100000"/>
              <a:buChar char="▪"/>
            </a:pPr>
            <a:r>
              <a:rPr lang="en-US" sz="1250" dirty="0">
                <a:solidFill>
                  <a:srgbClr val="F4F4F2"/>
                </a:solidFill>
                <a:latin typeface="Calibri" pitchFamily="34" charset="0"/>
                <a:ea typeface="Calibri" pitchFamily="34" charset="-122"/>
                <a:cs typeface="Calibri" pitchFamily="34" charset="-120"/>
              </a:rPr>
              <a:t>Confidentiality: All trade secrets and proprietary information kept confidential</a:t>
            </a:r>
            <a:endParaRPr lang="en-US" sz="1250" dirty="0"/>
          </a:p>
          <a:p>
            <a:pPr marL="342900" indent="-342900">
              <a:lnSpc>
                <a:spcPct val="135000"/>
              </a:lnSpc>
              <a:buSzPct val="100000"/>
              <a:buChar char="▪"/>
            </a:pPr>
            <a:r>
              <a:rPr lang="en-US" sz="1250" dirty="0">
                <a:solidFill>
                  <a:srgbClr val="F4F4F2"/>
                </a:solidFill>
                <a:latin typeface="Calibri" pitchFamily="34" charset="0"/>
                <a:ea typeface="Calibri" pitchFamily="34" charset="-122"/>
                <a:cs typeface="Calibri" pitchFamily="34" charset="-120"/>
              </a:rPr>
              <a:t>Intellectual Property: All code and work products remain property of Drasken Labs Pvt. Ltd.</a:t>
            </a:r>
            <a:endParaRPr lang="en-US" sz="1250" dirty="0"/>
          </a:p>
          <a:p>
            <a:pPr marL="342900" indent="-342900">
              <a:lnSpc>
                <a:spcPct val="135000"/>
              </a:lnSpc>
              <a:buSzPct val="100000"/>
              <a:buChar char="▪"/>
            </a:pPr>
            <a:r>
              <a:rPr lang="en-US" sz="1250" dirty="0">
                <a:solidFill>
                  <a:srgbClr val="F4F4F2"/>
                </a:solidFill>
                <a:latin typeface="Calibri" pitchFamily="34" charset="0"/>
                <a:ea typeface="Calibri" pitchFamily="34" charset="-122"/>
                <a:cs typeface="Calibri" pitchFamily="34" charset="-120"/>
              </a:rPr>
              <a:t>Professional Conduct: Adherence to team communication standards and virtual meetings</a:t>
            </a:r>
            <a:endParaRPr lang="en-US" sz="1250" dirty="0"/>
          </a:p>
        </p:txBody>
      </p:sp>
      <p:sp>
        <p:nvSpPr>
          <p:cNvPr id="15" name="Shape 13"/>
          <p:cNvSpPr/>
          <p:nvPr/>
        </p:nvSpPr>
        <p:spPr>
          <a:xfrm>
            <a:off x="6400800" y="5212080"/>
            <a:ext cx="5029200" cy="0"/>
          </a:xfrm>
          <a:prstGeom prst="line">
            <a:avLst/>
          </a:prstGeom>
          <a:noFill/>
          <a:ln w="12700">
            <a:solidFill>
              <a:srgbClr val="3C6E3A"/>
            </a:solidFill>
            <a:prstDash val="solid"/>
          </a:ln>
        </p:spPr>
      </p:sp>
      <p:sp>
        <p:nvSpPr>
          <p:cNvPr id="16" name="Text 14"/>
          <p:cNvSpPr/>
          <p:nvPr/>
        </p:nvSpPr>
        <p:spPr>
          <a:xfrm>
            <a:off x="6400800" y="5349240"/>
            <a:ext cx="5029200" cy="5486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Suraj Kumar Aggarwal
</a:t>
            </a:r>
            <a:endParaRPr lang="en-US" sz="1300" dirty="0"/>
          </a:p>
          <a:p>
            <a:pPr indent="0" marL="0">
              <a:buNone/>
            </a:pPr>
            <a:r>
              <a:rPr lang="en-US" sz="1100" dirty="0">
                <a:solidFill>
                  <a:srgbClr val="8A9199"/>
                </a:solidFill>
                <a:latin typeface="Calibri" pitchFamily="34" charset="0"/>
                <a:ea typeface="Calibri" pitchFamily="34" charset="-122"/>
                <a:cs typeface="Calibri" pitchFamily="34" charset="-120"/>
              </a:rPr>
              <a:t>CEO &amp; Founder, Drasken Labs Private Limited</a:t>
            </a:r>
            <a:endParaRPr lang="en-US" sz="1300" dirty="0"/>
          </a:p>
        </p:txBody>
      </p:sp>
      <p:sp>
        <p:nvSpPr>
          <p:cNvPr id="17" name="Text 15"/>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5FA85D">
              <a:alpha val="85000"/>
            </a:srgbClr>
          </a:solidFill>
          <a:ln/>
        </p:spPr>
      </p:sp>
      <p:sp>
        <p:nvSpPr>
          <p:cNvPr id="3" name="Shape 1"/>
          <p:cNvSpPr/>
          <p:nvPr/>
        </p:nvSpPr>
        <p:spPr>
          <a:xfrm>
            <a:off x="-548640" y="5943600"/>
            <a:ext cx="1463040" cy="1463040"/>
          </a:xfrm>
          <a:prstGeom prst="ellipse">
            <a:avLst/>
          </a:prstGeom>
          <a:solidFill>
            <a:srgbClr val="5FA85D">
              <a:alpha val="75000"/>
            </a:srgbClr>
          </a:solidFill>
          <a:ln/>
        </p:spPr>
      </p:sp>
      <p:sp>
        <p:nvSpPr>
          <p:cNvPr id="4" name="Shape 2"/>
          <p:cNvSpPr/>
          <p:nvPr/>
        </p:nvSpPr>
        <p:spPr>
          <a:xfrm>
            <a:off x="457200" y="457200"/>
            <a:ext cx="2377440" cy="365760"/>
          </a:xfrm>
          <a:prstGeom prst="roundRect">
            <a:avLst>
              <a:gd name="adj" fmla="val 20000"/>
            </a:avLst>
          </a:prstGeom>
          <a:solidFill>
            <a:srgbClr val="5FA85D">
              <a:alpha val="9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05  ·  INTRODUCTION</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1B1F23"/>
                </a:solidFill>
                <a:latin typeface="Cambria" pitchFamily="34" charset="0"/>
                <a:ea typeface="Cambria" pitchFamily="34" charset="-122"/>
                <a:cs typeface="Cambria" pitchFamily="34" charset="-120"/>
              </a:rPr>
              <a:t>Project Introduction</a:t>
            </a:r>
            <a:endParaRPr lang="en-US" sz="3200" dirty="0"/>
          </a:p>
        </p:txBody>
      </p:sp>
      <p:sp>
        <p:nvSpPr>
          <p:cNvPr id="7" name="Shape 5"/>
          <p:cNvSpPr/>
          <p:nvPr/>
        </p:nvSpPr>
        <p:spPr>
          <a:xfrm>
            <a:off x="457200" y="1920240"/>
            <a:ext cx="6949440" cy="914400"/>
          </a:xfrm>
          <a:prstGeom prst="roundRect">
            <a:avLst>
              <a:gd name="adj" fmla="val 10000"/>
            </a:avLst>
          </a:prstGeom>
          <a:solidFill>
            <a:srgbClr val="5FA85D"/>
          </a:solidFill>
          <a:ln/>
        </p:spPr>
      </p:sp>
      <p:sp>
        <p:nvSpPr>
          <p:cNvPr id="8" name="Text 6"/>
          <p:cNvSpPr/>
          <p:nvPr/>
        </p:nvSpPr>
        <p:spPr>
          <a:xfrm>
            <a:off x="731520" y="1965960"/>
            <a:ext cx="6492240" cy="822960"/>
          </a:xfrm>
          <a:prstGeom prst="rect">
            <a:avLst/>
          </a:prstGeom>
          <a:noFill/>
          <a:ln/>
        </p:spPr>
        <p:txBody>
          <a:bodyPr wrap="square" rtlCol="0" anchor="ctr"/>
          <a:lstStyle/>
          <a:p>
            <a:pPr indent="0" marL="0">
              <a:lnSpc>
                <a:spcPct val="110000"/>
              </a:lnSpc>
              <a:buNone/>
            </a:pPr>
            <a:r>
              <a:rPr lang="en-US" sz="1700" b="1" dirty="0">
                <a:solidFill>
                  <a:srgbClr val="FFFFFF"/>
                </a:solidFill>
                <a:latin typeface="Cambria" pitchFamily="34" charset="0"/>
                <a:ea typeface="Cambria" pitchFamily="34" charset="-122"/>
                <a:cs typeface="Cambria" pitchFamily="34" charset="-120"/>
              </a:rPr>
              <a:t>HRMS (Human Resource Management System)</a:t>
            </a:r>
            <a:endParaRPr lang="en-US" sz="1700" dirty="0"/>
          </a:p>
          <a:p>
            <a:pPr indent="0" marL="0">
              <a:lnSpc>
                <a:spcPct val="110000"/>
              </a:lnSpc>
              <a:buNone/>
            </a:pPr>
            <a:r>
              <a:rPr lang="en-US" sz="1700" b="1" dirty="0">
                <a:solidFill>
                  <a:srgbClr val="FFFFFF"/>
                </a:solidFill>
                <a:latin typeface="Cambria" pitchFamily="34" charset="0"/>
                <a:ea typeface="Cambria" pitchFamily="34" charset="-122"/>
                <a:cs typeface="Cambria" pitchFamily="34" charset="-120"/>
              </a:rPr>
              <a:t>Backend Development using Node.js</a:t>
            </a:r>
            <a:endParaRPr lang="en-US" sz="1700" dirty="0"/>
          </a:p>
        </p:txBody>
      </p:sp>
      <p:sp>
        <p:nvSpPr>
          <p:cNvPr id="9" name="Text 7"/>
          <p:cNvSpPr/>
          <p:nvPr/>
        </p:nvSpPr>
        <p:spPr>
          <a:xfrm>
            <a:off x="457200" y="3063240"/>
            <a:ext cx="6949440" cy="2926080"/>
          </a:xfrm>
          <a:prstGeom prst="rect">
            <a:avLst/>
          </a:prstGeom>
          <a:noFill/>
          <a:ln/>
        </p:spPr>
        <p:txBody>
          <a:bodyPr wrap="square" rtlCol="0" anchor="t"/>
          <a:lstStyle/>
          <a:p>
            <a:pPr indent="0" marL="0">
              <a:lnSpc>
                <a:spcPct val="130000"/>
              </a:lnSpc>
              <a:buNone/>
            </a:pPr>
            <a:r>
              <a:rPr lang="en-US" sz="1400" dirty="0">
                <a:solidFill>
                  <a:srgbClr val="333333"/>
                </a:solidFill>
                <a:latin typeface="Calibri" pitchFamily="34" charset="0"/>
                <a:ea typeface="Calibri" pitchFamily="34" charset="-122"/>
                <a:cs typeface="Calibri" pitchFamily="34" charset="-120"/>
              </a:rPr>
              <a:t>This report presents a detailed account of the virtual internship undertaken with Drasken Labs Private Limited, in the domain of Node.js Development. The internship ran from January 15, 2026 to June 15, 2026, as part of the requirement for the Bachelor of Technology (Computer Science &amp; Engineering) programme at IILM University, Greater Noida.</a:t>
            </a:r>
            <a:endParaRPr lang="en-US" sz="1400" dirty="0"/>
          </a:p>
          <a:p>
            <a:pPr indent="0" marL="0">
              <a:lnSpc>
                <a:spcPct val="130000"/>
              </a:lnSpc>
              <a:buNone/>
            </a:pPr>
            <a:endParaRPr lang="en-US" sz="1400" dirty="0"/>
          </a:p>
          <a:p>
            <a:pPr indent="0" marL="0">
              <a:lnSpc>
                <a:spcPct val="130000"/>
              </a:lnSpc>
              <a:buNone/>
            </a:pPr>
            <a:r>
              <a:rPr lang="en-US" sz="1400" dirty="0">
                <a:solidFill>
                  <a:srgbClr val="333333"/>
                </a:solidFill>
                <a:latin typeface="Calibri" pitchFamily="34" charset="0"/>
                <a:ea typeface="Calibri" pitchFamily="34" charset="-122"/>
                <a:cs typeface="Calibri" pitchFamily="34" charset="-120"/>
              </a:rPr>
              <a:t>The primary aim was to bridge the gap between theoretical understanding of Node.js and its real-world, production-grade deployment — exposing the learner to industry-relevant tools and practices used to take applications from prototype to a fully deployed, monitored, and scalable production system.</a:t>
            </a:r>
            <a:endParaRPr lang="en-US" sz="1400" dirty="0"/>
          </a:p>
        </p:txBody>
      </p:sp>
      <p:sp>
        <p:nvSpPr>
          <p:cNvPr id="10" name="Shape 8"/>
          <p:cNvSpPr/>
          <p:nvPr/>
        </p:nvSpPr>
        <p:spPr>
          <a:xfrm>
            <a:off x="7680960" y="1920240"/>
            <a:ext cx="4023360" cy="4069080"/>
          </a:xfrm>
          <a:prstGeom prst="roundRect">
            <a:avLst>
              <a:gd name="adj" fmla="val 2273"/>
            </a:avLst>
          </a:prstGeom>
          <a:solidFill>
            <a:srgbClr val="1B1F23"/>
          </a:solidFill>
          <a:ln/>
        </p:spPr>
      </p:sp>
      <p:sp>
        <p:nvSpPr>
          <p:cNvPr id="11" name="Text 9"/>
          <p:cNvSpPr/>
          <p:nvPr/>
        </p:nvSpPr>
        <p:spPr>
          <a:xfrm>
            <a:off x="7955280" y="2194560"/>
            <a:ext cx="3474720" cy="274320"/>
          </a:xfrm>
          <a:prstGeom prst="rect">
            <a:avLst/>
          </a:prstGeom>
          <a:noFill/>
          <a:ln/>
        </p:spPr>
        <p:txBody>
          <a:bodyPr wrap="square" rtlCol="0" anchor="ctr"/>
          <a:lstStyle/>
          <a:p>
            <a:pPr indent="0" marL="0">
              <a:buNone/>
            </a:pPr>
            <a:r>
              <a:rPr lang="en-US" sz="1000" b="1" spc="100" kern="0" dirty="0">
                <a:solidFill>
                  <a:srgbClr val="5FA85D"/>
                </a:solidFill>
                <a:latin typeface="Calibri" pitchFamily="34" charset="0"/>
                <a:ea typeface="Calibri" pitchFamily="34" charset="-122"/>
                <a:cs typeface="Calibri" pitchFamily="34" charset="-120"/>
              </a:rPr>
              <a:t>ORGANISATION</a:t>
            </a:r>
            <a:endParaRPr lang="en-US" sz="1000" dirty="0"/>
          </a:p>
        </p:txBody>
      </p:sp>
      <p:sp>
        <p:nvSpPr>
          <p:cNvPr id="12" name="Text 10"/>
          <p:cNvSpPr/>
          <p:nvPr/>
        </p:nvSpPr>
        <p:spPr>
          <a:xfrm>
            <a:off x="7955280" y="2468880"/>
            <a:ext cx="347472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Drasken Labs Pvt. Ltd.</a:t>
            </a:r>
            <a:endParaRPr lang="en-US" sz="1500" dirty="0"/>
          </a:p>
        </p:txBody>
      </p:sp>
      <p:sp>
        <p:nvSpPr>
          <p:cNvPr id="13" name="Text 11"/>
          <p:cNvSpPr/>
          <p:nvPr/>
        </p:nvSpPr>
        <p:spPr>
          <a:xfrm>
            <a:off x="7955280" y="3063240"/>
            <a:ext cx="3474720" cy="274320"/>
          </a:xfrm>
          <a:prstGeom prst="rect">
            <a:avLst/>
          </a:prstGeom>
          <a:noFill/>
          <a:ln/>
        </p:spPr>
        <p:txBody>
          <a:bodyPr wrap="square" rtlCol="0" anchor="ctr"/>
          <a:lstStyle/>
          <a:p>
            <a:pPr indent="0" marL="0">
              <a:buNone/>
            </a:pPr>
            <a:r>
              <a:rPr lang="en-US" sz="1000" b="1" spc="100" kern="0" dirty="0">
                <a:solidFill>
                  <a:srgbClr val="5FA85D"/>
                </a:solidFill>
                <a:latin typeface="Calibri" pitchFamily="34" charset="0"/>
                <a:ea typeface="Calibri" pitchFamily="34" charset="-122"/>
                <a:cs typeface="Calibri" pitchFamily="34" charset="-120"/>
              </a:rPr>
              <a:t>DURATION</a:t>
            </a:r>
            <a:endParaRPr lang="en-US" sz="1000" dirty="0"/>
          </a:p>
        </p:txBody>
      </p:sp>
      <p:sp>
        <p:nvSpPr>
          <p:cNvPr id="14" name="Text 12"/>
          <p:cNvSpPr/>
          <p:nvPr/>
        </p:nvSpPr>
        <p:spPr>
          <a:xfrm>
            <a:off x="7955280" y="3337560"/>
            <a:ext cx="347472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5 Months</a:t>
            </a:r>
            <a:endParaRPr lang="en-US" sz="1500" dirty="0"/>
          </a:p>
        </p:txBody>
      </p:sp>
      <p:sp>
        <p:nvSpPr>
          <p:cNvPr id="15" name="Text 13"/>
          <p:cNvSpPr/>
          <p:nvPr/>
        </p:nvSpPr>
        <p:spPr>
          <a:xfrm>
            <a:off x="7955280" y="3931920"/>
            <a:ext cx="3474720" cy="274320"/>
          </a:xfrm>
          <a:prstGeom prst="rect">
            <a:avLst/>
          </a:prstGeom>
          <a:noFill/>
          <a:ln/>
        </p:spPr>
        <p:txBody>
          <a:bodyPr wrap="square" rtlCol="0" anchor="ctr"/>
          <a:lstStyle/>
          <a:p>
            <a:pPr indent="0" marL="0">
              <a:buNone/>
            </a:pPr>
            <a:r>
              <a:rPr lang="en-US" sz="1000" b="1" spc="100" kern="0" dirty="0">
                <a:solidFill>
                  <a:srgbClr val="5FA85D"/>
                </a:solidFill>
                <a:latin typeface="Calibri" pitchFamily="34" charset="0"/>
                <a:ea typeface="Calibri" pitchFamily="34" charset="-122"/>
                <a:cs typeface="Calibri" pitchFamily="34" charset="-120"/>
              </a:rPr>
              <a:t>MODE</a:t>
            </a:r>
            <a:endParaRPr lang="en-US" sz="1000" dirty="0"/>
          </a:p>
        </p:txBody>
      </p:sp>
      <p:sp>
        <p:nvSpPr>
          <p:cNvPr id="16" name="Text 14"/>
          <p:cNvSpPr/>
          <p:nvPr/>
        </p:nvSpPr>
        <p:spPr>
          <a:xfrm>
            <a:off x="7955280" y="4206240"/>
            <a:ext cx="347472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Remote (WFH)</a:t>
            </a:r>
            <a:endParaRPr lang="en-US" sz="1500" dirty="0"/>
          </a:p>
        </p:txBody>
      </p:sp>
      <p:sp>
        <p:nvSpPr>
          <p:cNvPr id="17" name="Text 15"/>
          <p:cNvSpPr/>
          <p:nvPr/>
        </p:nvSpPr>
        <p:spPr>
          <a:xfrm>
            <a:off x="7955280" y="4800600"/>
            <a:ext cx="3474720" cy="274320"/>
          </a:xfrm>
          <a:prstGeom prst="rect">
            <a:avLst/>
          </a:prstGeom>
          <a:noFill/>
          <a:ln/>
        </p:spPr>
        <p:txBody>
          <a:bodyPr wrap="square" rtlCol="0" anchor="ctr"/>
          <a:lstStyle/>
          <a:p>
            <a:pPr indent="0" marL="0">
              <a:buNone/>
            </a:pPr>
            <a:r>
              <a:rPr lang="en-US" sz="1000" b="1" spc="100" kern="0" dirty="0">
                <a:solidFill>
                  <a:srgbClr val="5FA85D"/>
                </a:solidFill>
                <a:latin typeface="Calibri" pitchFamily="34" charset="0"/>
                <a:ea typeface="Calibri" pitchFamily="34" charset="-122"/>
                <a:cs typeface="Calibri" pitchFamily="34" charset="-120"/>
              </a:rPr>
              <a:t>INSTITUTE</a:t>
            </a:r>
            <a:endParaRPr lang="en-US" sz="1000" dirty="0"/>
          </a:p>
        </p:txBody>
      </p:sp>
      <p:sp>
        <p:nvSpPr>
          <p:cNvPr id="18" name="Text 16"/>
          <p:cNvSpPr/>
          <p:nvPr/>
        </p:nvSpPr>
        <p:spPr>
          <a:xfrm>
            <a:off x="7955280" y="5074920"/>
            <a:ext cx="347472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IILM University, Greater Noida</a:t>
            </a:r>
            <a:endParaRPr lang="en-US" sz="1500" dirty="0"/>
          </a:p>
        </p:txBody>
      </p:sp>
      <p:sp>
        <p:nvSpPr>
          <p:cNvPr id="19" name="Text 17"/>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5FA85D">
              <a:alpha val="85000"/>
            </a:srgbClr>
          </a:solidFill>
          <a:ln/>
        </p:spPr>
      </p:sp>
      <p:sp>
        <p:nvSpPr>
          <p:cNvPr id="3" name="Shape 1"/>
          <p:cNvSpPr/>
          <p:nvPr/>
        </p:nvSpPr>
        <p:spPr>
          <a:xfrm>
            <a:off x="-548640" y="5943600"/>
            <a:ext cx="1463040" cy="1463040"/>
          </a:xfrm>
          <a:prstGeom prst="ellipse">
            <a:avLst/>
          </a:prstGeom>
          <a:solidFill>
            <a:srgbClr val="5FA85D">
              <a:alpha val="75000"/>
            </a:srgbClr>
          </a:solidFill>
          <a:ln/>
        </p:spPr>
      </p:sp>
      <p:sp>
        <p:nvSpPr>
          <p:cNvPr id="4" name="Shape 2"/>
          <p:cNvSpPr/>
          <p:nvPr/>
        </p:nvSpPr>
        <p:spPr>
          <a:xfrm>
            <a:off x="457200" y="457200"/>
            <a:ext cx="2377440" cy="365760"/>
          </a:xfrm>
          <a:prstGeom prst="roundRect">
            <a:avLst>
              <a:gd name="adj" fmla="val 20000"/>
            </a:avLst>
          </a:prstGeom>
          <a:solidFill>
            <a:srgbClr val="5FA85D">
              <a:alpha val="9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06  ·  OVERVIEW</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1B1F23"/>
                </a:solidFill>
                <a:latin typeface="Cambria" pitchFamily="34" charset="0"/>
                <a:ea typeface="Cambria" pitchFamily="34" charset="-122"/>
                <a:cs typeface="Cambria" pitchFamily="34" charset="-120"/>
              </a:rPr>
              <a:t>Project Overview</a:t>
            </a:r>
            <a:endParaRPr lang="en-US" sz="3200" dirty="0"/>
          </a:p>
        </p:txBody>
      </p:sp>
      <p:sp>
        <p:nvSpPr>
          <p:cNvPr id="7" name="Text 5"/>
          <p:cNvSpPr/>
          <p:nvPr/>
        </p:nvSpPr>
        <p:spPr>
          <a:xfrm>
            <a:off x="457200" y="1828800"/>
            <a:ext cx="10332720" cy="914400"/>
          </a:xfrm>
          <a:prstGeom prst="rect">
            <a:avLst/>
          </a:prstGeom>
          <a:noFill/>
          <a:ln/>
        </p:spPr>
        <p:txBody>
          <a:bodyPr wrap="square" rtlCol="0" anchor="ctr"/>
          <a:lstStyle/>
          <a:p>
            <a:pPr indent="0" marL="0">
              <a:lnSpc>
                <a:spcPct val="130000"/>
              </a:lnSpc>
              <a:buNone/>
            </a:pPr>
            <a:r>
              <a:rPr lang="en-US" sz="1450" dirty="0">
                <a:solidFill>
                  <a:srgbClr val="333333"/>
                </a:solidFill>
                <a:latin typeface="Calibri" pitchFamily="34" charset="0"/>
                <a:ea typeface="Calibri" pitchFamily="34" charset="-122"/>
                <a:cs typeface="Calibri" pitchFamily="34" charset="-120"/>
              </a:rPr>
              <a:t>As a Node.js Developer Intern under the HRMS Development Team, the internship focused on backend development and web technologies, with practical exposure to building and maintaining server-side applications using Node.js.</a:t>
            </a:r>
            <a:endParaRPr lang="en-US" sz="1450" dirty="0"/>
          </a:p>
        </p:txBody>
      </p:sp>
      <p:sp>
        <p:nvSpPr>
          <p:cNvPr id="8" name="Shape 6"/>
          <p:cNvSpPr/>
          <p:nvPr/>
        </p:nvSpPr>
        <p:spPr>
          <a:xfrm>
            <a:off x="457200" y="2880360"/>
            <a:ext cx="3566160" cy="2834640"/>
          </a:xfrm>
          <a:prstGeom prst="roundRect">
            <a:avLst>
              <a:gd name="adj" fmla="val 3226"/>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9" name="Shape 7"/>
          <p:cNvSpPr/>
          <p:nvPr/>
        </p:nvSpPr>
        <p:spPr>
          <a:xfrm>
            <a:off x="457200" y="2880360"/>
            <a:ext cx="3566160" cy="73152"/>
          </a:xfrm>
          <a:prstGeom prst="rect">
            <a:avLst/>
          </a:prstGeom>
          <a:solidFill>
            <a:srgbClr val="5FA85D"/>
          </a:solidFill>
          <a:ln/>
        </p:spPr>
      </p:sp>
      <p:sp>
        <p:nvSpPr>
          <p:cNvPr id="10" name="Text 8"/>
          <p:cNvSpPr/>
          <p:nvPr/>
        </p:nvSpPr>
        <p:spPr>
          <a:xfrm>
            <a:off x="731520" y="3154680"/>
            <a:ext cx="3017520" cy="457200"/>
          </a:xfrm>
          <a:prstGeom prst="rect">
            <a:avLst/>
          </a:prstGeom>
          <a:noFill/>
          <a:ln/>
        </p:spPr>
        <p:txBody>
          <a:bodyPr wrap="square" rtlCol="0" anchor="ctr"/>
          <a:lstStyle/>
          <a:p>
            <a:pPr indent="0" marL="0">
              <a:buNone/>
            </a:pPr>
            <a:r>
              <a:rPr lang="en-US" sz="1600" b="1" dirty="0">
                <a:solidFill>
                  <a:srgbClr val="1B1F23"/>
                </a:solidFill>
                <a:latin typeface="Cambria" pitchFamily="34" charset="0"/>
                <a:ea typeface="Cambria" pitchFamily="34" charset="-122"/>
                <a:cs typeface="Cambria" pitchFamily="34" charset="-120"/>
              </a:rPr>
              <a:t>Platform</a:t>
            </a:r>
            <a:endParaRPr lang="en-US" sz="1600" dirty="0"/>
          </a:p>
        </p:txBody>
      </p:sp>
      <p:sp>
        <p:nvSpPr>
          <p:cNvPr id="11" name="Text 9"/>
          <p:cNvSpPr/>
          <p:nvPr/>
        </p:nvSpPr>
        <p:spPr>
          <a:xfrm>
            <a:off x="731520" y="3657600"/>
            <a:ext cx="3017520" cy="1920240"/>
          </a:xfrm>
          <a:prstGeom prst="rect">
            <a:avLst/>
          </a:prstGeom>
          <a:noFill/>
          <a:ln/>
        </p:spPr>
        <p:txBody>
          <a:bodyPr wrap="square" rtlCol="0" anchor="t"/>
          <a:lstStyle/>
          <a:p>
            <a:pPr indent="0" marL="0">
              <a:lnSpc>
                <a:spcPct val="125000"/>
              </a:lnSpc>
              <a:buNone/>
            </a:pPr>
            <a:r>
              <a:rPr lang="en-US" sz="1250" dirty="0">
                <a:solidFill>
                  <a:srgbClr val="444444"/>
                </a:solidFill>
                <a:latin typeface="Calibri" pitchFamily="34" charset="0"/>
                <a:ea typeface="Calibri" pitchFamily="34" charset="-122"/>
                <a:cs typeface="Calibri" pitchFamily="34" charset="-120"/>
              </a:rPr>
              <a:t>Contributed to the backend of an HRMS platform supporting organization and employee-related processes.</a:t>
            </a:r>
            <a:endParaRPr lang="en-US" sz="1250" dirty="0"/>
          </a:p>
        </p:txBody>
      </p:sp>
      <p:sp>
        <p:nvSpPr>
          <p:cNvPr id="12" name="Shape 10"/>
          <p:cNvSpPr/>
          <p:nvPr/>
        </p:nvSpPr>
        <p:spPr>
          <a:xfrm>
            <a:off x="4251960" y="2880360"/>
            <a:ext cx="3566160" cy="2834640"/>
          </a:xfrm>
          <a:prstGeom prst="roundRect">
            <a:avLst>
              <a:gd name="adj" fmla="val 3226"/>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13" name="Shape 11"/>
          <p:cNvSpPr/>
          <p:nvPr/>
        </p:nvSpPr>
        <p:spPr>
          <a:xfrm>
            <a:off x="4251960" y="2880360"/>
            <a:ext cx="3566160" cy="73152"/>
          </a:xfrm>
          <a:prstGeom prst="rect">
            <a:avLst/>
          </a:prstGeom>
          <a:solidFill>
            <a:srgbClr val="5FA85D"/>
          </a:solidFill>
          <a:ln/>
        </p:spPr>
      </p:sp>
      <p:sp>
        <p:nvSpPr>
          <p:cNvPr id="14" name="Text 12"/>
          <p:cNvSpPr/>
          <p:nvPr/>
        </p:nvSpPr>
        <p:spPr>
          <a:xfrm>
            <a:off x="4526280" y="3154680"/>
            <a:ext cx="3017520" cy="457200"/>
          </a:xfrm>
          <a:prstGeom prst="rect">
            <a:avLst/>
          </a:prstGeom>
          <a:noFill/>
          <a:ln/>
        </p:spPr>
        <p:txBody>
          <a:bodyPr wrap="square" rtlCol="0" anchor="ctr"/>
          <a:lstStyle/>
          <a:p>
            <a:pPr indent="0" marL="0">
              <a:buNone/>
            </a:pPr>
            <a:r>
              <a:rPr lang="en-US" sz="1600" b="1" dirty="0">
                <a:solidFill>
                  <a:srgbClr val="1B1F23"/>
                </a:solidFill>
                <a:latin typeface="Cambria" pitchFamily="34" charset="0"/>
                <a:ea typeface="Cambria" pitchFamily="34" charset="-122"/>
                <a:cs typeface="Cambria" pitchFamily="34" charset="-120"/>
              </a:rPr>
              <a:t>Focus</a:t>
            </a:r>
            <a:endParaRPr lang="en-US" sz="1600" dirty="0"/>
          </a:p>
        </p:txBody>
      </p:sp>
      <p:sp>
        <p:nvSpPr>
          <p:cNvPr id="15" name="Text 13"/>
          <p:cNvSpPr/>
          <p:nvPr/>
        </p:nvSpPr>
        <p:spPr>
          <a:xfrm>
            <a:off x="4526280" y="3657600"/>
            <a:ext cx="3017520" cy="1920240"/>
          </a:xfrm>
          <a:prstGeom prst="rect">
            <a:avLst/>
          </a:prstGeom>
          <a:noFill/>
          <a:ln/>
        </p:spPr>
        <p:txBody>
          <a:bodyPr wrap="square" rtlCol="0" anchor="t"/>
          <a:lstStyle/>
          <a:p>
            <a:pPr indent="0" marL="0">
              <a:lnSpc>
                <a:spcPct val="125000"/>
              </a:lnSpc>
              <a:buNone/>
            </a:pPr>
            <a:r>
              <a:rPr lang="en-US" sz="1250" dirty="0">
                <a:solidFill>
                  <a:srgbClr val="444444"/>
                </a:solidFill>
                <a:latin typeface="Calibri" pitchFamily="34" charset="0"/>
                <a:ea typeface="Calibri" pitchFamily="34" charset="-122"/>
                <a:cs typeface="Calibri" pitchFamily="34" charset="-120"/>
              </a:rPr>
              <a:t>Node.js-based development tasks and understanding backend application workflows.</a:t>
            </a:r>
            <a:endParaRPr lang="en-US" sz="1250" dirty="0"/>
          </a:p>
        </p:txBody>
      </p:sp>
      <p:sp>
        <p:nvSpPr>
          <p:cNvPr id="16" name="Shape 14"/>
          <p:cNvSpPr/>
          <p:nvPr/>
        </p:nvSpPr>
        <p:spPr>
          <a:xfrm>
            <a:off x="8046720" y="2880360"/>
            <a:ext cx="3566160" cy="2834640"/>
          </a:xfrm>
          <a:prstGeom prst="roundRect">
            <a:avLst>
              <a:gd name="adj" fmla="val 3226"/>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17" name="Shape 15"/>
          <p:cNvSpPr/>
          <p:nvPr/>
        </p:nvSpPr>
        <p:spPr>
          <a:xfrm>
            <a:off x="8046720" y="2880360"/>
            <a:ext cx="3566160" cy="73152"/>
          </a:xfrm>
          <a:prstGeom prst="rect">
            <a:avLst/>
          </a:prstGeom>
          <a:solidFill>
            <a:srgbClr val="5FA85D"/>
          </a:solidFill>
          <a:ln/>
        </p:spPr>
      </p:sp>
      <p:sp>
        <p:nvSpPr>
          <p:cNvPr id="18" name="Text 16"/>
          <p:cNvSpPr/>
          <p:nvPr/>
        </p:nvSpPr>
        <p:spPr>
          <a:xfrm>
            <a:off x="8321040" y="3154680"/>
            <a:ext cx="3017520" cy="457200"/>
          </a:xfrm>
          <a:prstGeom prst="rect">
            <a:avLst/>
          </a:prstGeom>
          <a:noFill/>
          <a:ln/>
        </p:spPr>
        <p:txBody>
          <a:bodyPr wrap="square" rtlCol="0" anchor="ctr"/>
          <a:lstStyle/>
          <a:p>
            <a:pPr indent="0" marL="0">
              <a:buNone/>
            </a:pPr>
            <a:r>
              <a:rPr lang="en-US" sz="1600" b="1" dirty="0">
                <a:solidFill>
                  <a:srgbClr val="1B1F23"/>
                </a:solidFill>
                <a:latin typeface="Cambria" pitchFamily="34" charset="0"/>
                <a:ea typeface="Cambria" pitchFamily="34" charset="-122"/>
                <a:cs typeface="Cambria" pitchFamily="34" charset="-120"/>
              </a:rPr>
              <a:t>Delivery</a:t>
            </a:r>
            <a:endParaRPr lang="en-US" sz="1600" dirty="0"/>
          </a:p>
        </p:txBody>
      </p:sp>
      <p:sp>
        <p:nvSpPr>
          <p:cNvPr id="19" name="Text 17"/>
          <p:cNvSpPr/>
          <p:nvPr/>
        </p:nvSpPr>
        <p:spPr>
          <a:xfrm>
            <a:off x="8321040" y="3657600"/>
            <a:ext cx="3017520" cy="1920240"/>
          </a:xfrm>
          <a:prstGeom prst="rect">
            <a:avLst/>
          </a:prstGeom>
          <a:noFill/>
          <a:ln/>
        </p:spPr>
        <p:txBody>
          <a:bodyPr wrap="square" rtlCol="0" anchor="t"/>
          <a:lstStyle/>
          <a:p>
            <a:pPr indent="0" marL="0">
              <a:lnSpc>
                <a:spcPct val="125000"/>
              </a:lnSpc>
              <a:buNone/>
            </a:pPr>
            <a:r>
              <a:rPr lang="en-US" sz="1250" dirty="0">
                <a:solidFill>
                  <a:srgbClr val="444444"/>
                </a:solidFill>
                <a:latin typeface="Calibri" pitchFamily="34" charset="0"/>
                <a:ea typeface="Calibri" pitchFamily="34" charset="-122"/>
                <a:cs typeface="Calibri" pitchFamily="34" charset="-120"/>
              </a:rPr>
              <a:t>Implemented required functionalities in collaboration with team members to deliver quality solutions.</a:t>
            </a:r>
            <a:endParaRPr lang="en-US" sz="1250" dirty="0"/>
          </a:p>
        </p:txBody>
      </p:sp>
      <p:sp>
        <p:nvSpPr>
          <p:cNvPr id="20" name="Text 18"/>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F23"/>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3C6E3A">
              <a:alpha val="60000"/>
            </a:srgbClr>
          </a:solidFill>
          <a:ln/>
        </p:spPr>
      </p:sp>
      <p:sp>
        <p:nvSpPr>
          <p:cNvPr id="3" name="Shape 1"/>
          <p:cNvSpPr/>
          <p:nvPr/>
        </p:nvSpPr>
        <p:spPr>
          <a:xfrm>
            <a:off x="-548640" y="5943600"/>
            <a:ext cx="1463040" cy="1463040"/>
          </a:xfrm>
          <a:prstGeom prst="ellipse">
            <a:avLst/>
          </a:prstGeom>
          <a:solidFill>
            <a:srgbClr val="3C6E3A">
              <a:alpha val="45000"/>
            </a:srgbClr>
          </a:solidFill>
          <a:ln/>
        </p:spPr>
      </p:sp>
      <p:sp>
        <p:nvSpPr>
          <p:cNvPr id="4" name="Shape 2"/>
          <p:cNvSpPr/>
          <p:nvPr/>
        </p:nvSpPr>
        <p:spPr>
          <a:xfrm>
            <a:off x="457200" y="457200"/>
            <a:ext cx="2377440" cy="365760"/>
          </a:xfrm>
          <a:prstGeom prst="roundRect">
            <a:avLst>
              <a:gd name="adj" fmla="val 20000"/>
            </a:avLst>
          </a:prstGeom>
          <a:solidFill>
            <a:srgbClr val="3C6E3A">
              <a:alpha val="8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4F4F2"/>
                </a:solidFill>
                <a:latin typeface="Calibri" pitchFamily="34" charset="0"/>
                <a:ea typeface="Calibri" pitchFamily="34" charset="-122"/>
                <a:cs typeface="Calibri" pitchFamily="34" charset="-120"/>
              </a:rPr>
              <a:t>07  ·  TECH STACK</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Technologies Used</a:t>
            </a:r>
            <a:endParaRPr lang="en-US" sz="3200" dirty="0"/>
          </a:p>
        </p:txBody>
      </p:sp>
      <p:sp>
        <p:nvSpPr>
          <p:cNvPr id="7" name="Shape 5"/>
          <p:cNvSpPr/>
          <p:nvPr/>
        </p:nvSpPr>
        <p:spPr>
          <a:xfrm>
            <a:off x="548640" y="2103120"/>
            <a:ext cx="3474720" cy="1417320"/>
          </a:xfrm>
          <a:prstGeom prst="roundRect">
            <a:avLst>
              <a:gd name="adj" fmla="val 6452"/>
            </a:avLst>
          </a:prstGeom>
          <a:solidFill>
            <a:srgbClr val="262B30"/>
          </a:solidFill>
          <a:ln w="12700">
            <a:solidFill>
              <a:srgbClr val="3C6E3A"/>
            </a:solidFill>
            <a:prstDash val="solid"/>
          </a:ln>
        </p:spPr>
      </p:sp>
      <p:sp>
        <p:nvSpPr>
          <p:cNvPr id="8" name="Shape 6"/>
          <p:cNvSpPr/>
          <p:nvPr/>
        </p:nvSpPr>
        <p:spPr>
          <a:xfrm>
            <a:off x="822960" y="2377440"/>
            <a:ext cx="457200" cy="457200"/>
          </a:xfrm>
          <a:prstGeom prst="ellipse">
            <a:avLst/>
          </a:prstGeom>
          <a:solidFill>
            <a:srgbClr val="5FA85D"/>
          </a:solidFill>
          <a:ln/>
        </p:spPr>
      </p:sp>
      <p:sp>
        <p:nvSpPr>
          <p:cNvPr id="9" name="Text 7"/>
          <p:cNvSpPr/>
          <p:nvPr/>
        </p:nvSpPr>
        <p:spPr>
          <a:xfrm>
            <a:off x="822960" y="2377440"/>
            <a:ext cx="457200" cy="457200"/>
          </a:xfrm>
          <a:prstGeom prst="rect">
            <a:avLst/>
          </a:prstGeom>
          <a:noFill/>
          <a:ln/>
        </p:spPr>
        <p:txBody>
          <a:bodyPr wrap="square" rtlCol="0" anchor="ctr"/>
          <a:lstStyle/>
          <a:p>
            <a:pPr algn="ctr" indent="0" marL="0">
              <a:buNone/>
            </a:pPr>
            <a:r>
              <a:rPr lang="en-US" sz="1300" b="1" dirty="0">
                <a:solidFill>
                  <a:srgbClr val="1B1F23"/>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822960" y="2926080"/>
            <a:ext cx="310896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Node.js</a:t>
            </a:r>
            <a:endParaRPr lang="en-US" sz="1500" dirty="0"/>
          </a:p>
        </p:txBody>
      </p:sp>
      <p:sp>
        <p:nvSpPr>
          <p:cNvPr id="11" name="Shape 9"/>
          <p:cNvSpPr/>
          <p:nvPr/>
        </p:nvSpPr>
        <p:spPr>
          <a:xfrm>
            <a:off x="4343400" y="2103120"/>
            <a:ext cx="3474720" cy="1417320"/>
          </a:xfrm>
          <a:prstGeom prst="roundRect">
            <a:avLst>
              <a:gd name="adj" fmla="val 6452"/>
            </a:avLst>
          </a:prstGeom>
          <a:solidFill>
            <a:srgbClr val="262B30"/>
          </a:solidFill>
          <a:ln w="12700">
            <a:solidFill>
              <a:srgbClr val="3C6E3A"/>
            </a:solidFill>
            <a:prstDash val="solid"/>
          </a:ln>
        </p:spPr>
      </p:sp>
      <p:sp>
        <p:nvSpPr>
          <p:cNvPr id="12" name="Shape 10"/>
          <p:cNvSpPr/>
          <p:nvPr/>
        </p:nvSpPr>
        <p:spPr>
          <a:xfrm>
            <a:off x="4617720" y="2377440"/>
            <a:ext cx="457200" cy="457200"/>
          </a:xfrm>
          <a:prstGeom prst="ellipse">
            <a:avLst/>
          </a:prstGeom>
          <a:solidFill>
            <a:srgbClr val="5FA85D"/>
          </a:solidFill>
          <a:ln/>
        </p:spPr>
      </p:sp>
      <p:sp>
        <p:nvSpPr>
          <p:cNvPr id="13" name="Text 11"/>
          <p:cNvSpPr/>
          <p:nvPr/>
        </p:nvSpPr>
        <p:spPr>
          <a:xfrm>
            <a:off x="4617720" y="2377440"/>
            <a:ext cx="457200" cy="457200"/>
          </a:xfrm>
          <a:prstGeom prst="rect">
            <a:avLst/>
          </a:prstGeom>
          <a:noFill/>
          <a:ln/>
        </p:spPr>
        <p:txBody>
          <a:bodyPr wrap="square" rtlCol="0" anchor="ctr"/>
          <a:lstStyle/>
          <a:p>
            <a:pPr algn="ctr" indent="0" marL="0">
              <a:buNone/>
            </a:pPr>
            <a:r>
              <a:rPr lang="en-US" sz="1300" b="1" dirty="0">
                <a:solidFill>
                  <a:srgbClr val="1B1F23"/>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617720" y="2926080"/>
            <a:ext cx="310896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JavaScript</a:t>
            </a:r>
            <a:endParaRPr lang="en-US" sz="1500" dirty="0"/>
          </a:p>
        </p:txBody>
      </p:sp>
      <p:sp>
        <p:nvSpPr>
          <p:cNvPr id="15" name="Shape 13"/>
          <p:cNvSpPr/>
          <p:nvPr/>
        </p:nvSpPr>
        <p:spPr>
          <a:xfrm>
            <a:off x="8138160" y="2103120"/>
            <a:ext cx="3474720" cy="1417320"/>
          </a:xfrm>
          <a:prstGeom prst="roundRect">
            <a:avLst>
              <a:gd name="adj" fmla="val 6452"/>
            </a:avLst>
          </a:prstGeom>
          <a:solidFill>
            <a:srgbClr val="262B30"/>
          </a:solidFill>
          <a:ln w="12700">
            <a:solidFill>
              <a:srgbClr val="3C6E3A"/>
            </a:solidFill>
            <a:prstDash val="solid"/>
          </a:ln>
        </p:spPr>
      </p:sp>
      <p:sp>
        <p:nvSpPr>
          <p:cNvPr id="16" name="Shape 14"/>
          <p:cNvSpPr/>
          <p:nvPr/>
        </p:nvSpPr>
        <p:spPr>
          <a:xfrm>
            <a:off x="8412480" y="2377440"/>
            <a:ext cx="457200" cy="457200"/>
          </a:xfrm>
          <a:prstGeom prst="ellipse">
            <a:avLst/>
          </a:prstGeom>
          <a:solidFill>
            <a:srgbClr val="5FA85D"/>
          </a:solidFill>
          <a:ln/>
        </p:spPr>
      </p:sp>
      <p:sp>
        <p:nvSpPr>
          <p:cNvPr id="17" name="Text 15"/>
          <p:cNvSpPr/>
          <p:nvPr/>
        </p:nvSpPr>
        <p:spPr>
          <a:xfrm>
            <a:off x="8412480" y="2377440"/>
            <a:ext cx="457200" cy="457200"/>
          </a:xfrm>
          <a:prstGeom prst="rect">
            <a:avLst/>
          </a:prstGeom>
          <a:noFill/>
          <a:ln/>
        </p:spPr>
        <p:txBody>
          <a:bodyPr wrap="square" rtlCol="0" anchor="ctr"/>
          <a:lstStyle/>
          <a:p>
            <a:pPr algn="ctr" indent="0" marL="0">
              <a:buNone/>
            </a:pPr>
            <a:r>
              <a:rPr lang="en-US" sz="1300" b="1" dirty="0">
                <a:solidFill>
                  <a:srgbClr val="1B1F23"/>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412480" y="2926080"/>
            <a:ext cx="310896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REST APIs</a:t>
            </a:r>
            <a:endParaRPr lang="en-US" sz="1500" dirty="0"/>
          </a:p>
        </p:txBody>
      </p:sp>
      <p:sp>
        <p:nvSpPr>
          <p:cNvPr id="19" name="Shape 17"/>
          <p:cNvSpPr/>
          <p:nvPr/>
        </p:nvSpPr>
        <p:spPr>
          <a:xfrm>
            <a:off x="548640" y="3840480"/>
            <a:ext cx="3474720" cy="1417320"/>
          </a:xfrm>
          <a:prstGeom prst="roundRect">
            <a:avLst>
              <a:gd name="adj" fmla="val 6452"/>
            </a:avLst>
          </a:prstGeom>
          <a:solidFill>
            <a:srgbClr val="262B30"/>
          </a:solidFill>
          <a:ln w="12700">
            <a:solidFill>
              <a:srgbClr val="3C6E3A"/>
            </a:solidFill>
            <a:prstDash val="solid"/>
          </a:ln>
        </p:spPr>
      </p:sp>
      <p:sp>
        <p:nvSpPr>
          <p:cNvPr id="20" name="Shape 18"/>
          <p:cNvSpPr/>
          <p:nvPr/>
        </p:nvSpPr>
        <p:spPr>
          <a:xfrm>
            <a:off x="822960" y="4114800"/>
            <a:ext cx="457200" cy="457200"/>
          </a:xfrm>
          <a:prstGeom prst="ellipse">
            <a:avLst/>
          </a:prstGeom>
          <a:solidFill>
            <a:srgbClr val="5FA85D"/>
          </a:solidFill>
          <a:ln/>
        </p:spPr>
      </p:sp>
      <p:sp>
        <p:nvSpPr>
          <p:cNvPr id="21" name="Text 19"/>
          <p:cNvSpPr/>
          <p:nvPr/>
        </p:nvSpPr>
        <p:spPr>
          <a:xfrm>
            <a:off x="822960" y="4114800"/>
            <a:ext cx="457200" cy="457200"/>
          </a:xfrm>
          <a:prstGeom prst="rect">
            <a:avLst/>
          </a:prstGeom>
          <a:noFill/>
          <a:ln/>
        </p:spPr>
        <p:txBody>
          <a:bodyPr wrap="square" rtlCol="0" anchor="ctr"/>
          <a:lstStyle/>
          <a:p>
            <a:pPr algn="ctr" indent="0" marL="0">
              <a:buNone/>
            </a:pPr>
            <a:r>
              <a:rPr lang="en-US" sz="1300" b="1" dirty="0">
                <a:solidFill>
                  <a:srgbClr val="1B1F23"/>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822960" y="4663440"/>
            <a:ext cx="310896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Backend / Web Dev</a:t>
            </a:r>
            <a:endParaRPr lang="en-US" sz="1500" dirty="0"/>
          </a:p>
        </p:txBody>
      </p:sp>
      <p:sp>
        <p:nvSpPr>
          <p:cNvPr id="23" name="Shape 21"/>
          <p:cNvSpPr/>
          <p:nvPr/>
        </p:nvSpPr>
        <p:spPr>
          <a:xfrm>
            <a:off x="4343400" y="3840480"/>
            <a:ext cx="3474720" cy="1417320"/>
          </a:xfrm>
          <a:prstGeom prst="roundRect">
            <a:avLst>
              <a:gd name="adj" fmla="val 6452"/>
            </a:avLst>
          </a:prstGeom>
          <a:solidFill>
            <a:srgbClr val="262B30"/>
          </a:solidFill>
          <a:ln w="12700">
            <a:solidFill>
              <a:srgbClr val="3C6E3A"/>
            </a:solidFill>
            <a:prstDash val="solid"/>
          </a:ln>
        </p:spPr>
      </p:sp>
      <p:sp>
        <p:nvSpPr>
          <p:cNvPr id="24" name="Shape 22"/>
          <p:cNvSpPr/>
          <p:nvPr/>
        </p:nvSpPr>
        <p:spPr>
          <a:xfrm>
            <a:off x="4617720" y="4114800"/>
            <a:ext cx="457200" cy="457200"/>
          </a:xfrm>
          <a:prstGeom prst="ellipse">
            <a:avLst/>
          </a:prstGeom>
          <a:solidFill>
            <a:srgbClr val="5FA85D"/>
          </a:solidFill>
          <a:ln/>
        </p:spPr>
      </p:sp>
      <p:sp>
        <p:nvSpPr>
          <p:cNvPr id="25" name="Text 23"/>
          <p:cNvSpPr/>
          <p:nvPr/>
        </p:nvSpPr>
        <p:spPr>
          <a:xfrm>
            <a:off x="4617720" y="4114800"/>
            <a:ext cx="457200" cy="457200"/>
          </a:xfrm>
          <a:prstGeom prst="rect">
            <a:avLst/>
          </a:prstGeom>
          <a:noFill/>
          <a:ln/>
        </p:spPr>
        <p:txBody>
          <a:bodyPr wrap="square" rtlCol="0" anchor="ctr"/>
          <a:lstStyle/>
          <a:p>
            <a:pPr algn="ctr" indent="0" marL="0">
              <a:buNone/>
            </a:pPr>
            <a:r>
              <a:rPr lang="en-US" sz="1300" b="1" dirty="0">
                <a:solidFill>
                  <a:srgbClr val="1B1F23"/>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4617720" y="4663440"/>
            <a:ext cx="310896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Database Integration</a:t>
            </a:r>
            <a:endParaRPr lang="en-US" sz="1500" dirty="0"/>
          </a:p>
        </p:txBody>
      </p:sp>
      <p:sp>
        <p:nvSpPr>
          <p:cNvPr id="27" name="Shape 25"/>
          <p:cNvSpPr/>
          <p:nvPr/>
        </p:nvSpPr>
        <p:spPr>
          <a:xfrm>
            <a:off x="8138160" y="3840480"/>
            <a:ext cx="3474720" cy="1417320"/>
          </a:xfrm>
          <a:prstGeom prst="roundRect">
            <a:avLst>
              <a:gd name="adj" fmla="val 6452"/>
            </a:avLst>
          </a:prstGeom>
          <a:solidFill>
            <a:srgbClr val="262B30"/>
          </a:solidFill>
          <a:ln w="12700">
            <a:solidFill>
              <a:srgbClr val="3C6E3A"/>
            </a:solidFill>
            <a:prstDash val="solid"/>
          </a:ln>
        </p:spPr>
      </p:sp>
      <p:sp>
        <p:nvSpPr>
          <p:cNvPr id="28" name="Shape 26"/>
          <p:cNvSpPr/>
          <p:nvPr/>
        </p:nvSpPr>
        <p:spPr>
          <a:xfrm>
            <a:off x="8412480" y="4114800"/>
            <a:ext cx="457200" cy="457200"/>
          </a:xfrm>
          <a:prstGeom prst="ellipse">
            <a:avLst/>
          </a:prstGeom>
          <a:solidFill>
            <a:srgbClr val="5FA85D"/>
          </a:solidFill>
          <a:ln/>
        </p:spPr>
      </p:sp>
      <p:sp>
        <p:nvSpPr>
          <p:cNvPr id="29" name="Text 27"/>
          <p:cNvSpPr/>
          <p:nvPr/>
        </p:nvSpPr>
        <p:spPr>
          <a:xfrm>
            <a:off x="8412480" y="4114800"/>
            <a:ext cx="457200" cy="457200"/>
          </a:xfrm>
          <a:prstGeom prst="rect">
            <a:avLst/>
          </a:prstGeom>
          <a:noFill/>
          <a:ln/>
        </p:spPr>
        <p:txBody>
          <a:bodyPr wrap="square" rtlCol="0" anchor="ctr"/>
          <a:lstStyle/>
          <a:p>
            <a:pPr algn="ctr" indent="0" marL="0">
              <a:buNone/>
            </a:pPr>
            <a:r>
              <a:rPr lang="en-US" sz="1300" b="1" dirty="0">
                <a:solidFill>
                  <a:srgbClr val="1B1F23"/>
                </a:solidFill>
                <a:latin typeface="Calibri" pitchFamily="34" charset="0"/>
                <a:ea typeface="Calibri" pitchFamily="34" charset="-122"/>
                <a:cs typeface="Calibri" pitchFamily="34" charset="-120"/>
              </a:rPr>
              <a:t>6</a:t>
            </a:r>
            <a:endParaRPr lang="en-US" sz="1300" dirty="0"/>
          </a:p>
        </p:txBody>
      </p:sp>
      <p:sp>
        <p:nvSpPr>
          <p:cNvPr id="30" name="Text 28"/>
          <p:cNvSpPr/>
          <p:nvPr/>
        </p:nvSpPr>
        <p:spPr>
          <a:xfrm>
            <a:off x="8412480" y="4663440"/>
            <a:ext cx="310896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Git / GitHub</a:t>
            </a:r>
            <a:endParaRPr lang="en-US" sz="1500" dirty="0"/>
          </a:p>
        </p:txBody>
      </p:sp>
      <p:sp>
        <p:nvSpPr>
          <p:cNvPr id="31" name="Text 29"/>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5FA85D">
              <a:alpha val="85000"/>
            </a:srgbClr>
          </a:solidFill>
          <a:ln/>
        </p:spPr>
      </p:sp>
      <p:sp>
        <p:nvSpPr>
          <p:cNvPr id="3" name="Shape 1"/>
          <p:cNvSpPr/>
          <p:nvPr/>
        </p:nvSpPr>
        <p:spPr>
          <a:xfrm>
            <a:off x="-548640" y="5943600"/>
            <a:ext cx="1463040" cy="1463040"/>
          </a:xfrm>
          <a:prstGeom prst="ellipse">
            <a:avLst/>
          </a:prstGeom>
          <a:solidFill>
            <a:srgbClr val="5FA85D">
              <a:alpha val="75000"/>
            </a:srgbClr>
          </a:solidFill>
          <a:ln/>
        </p:spPr>
      </p:sp>
      <p:sp>
        <p:nvSpPr>
          <p:cNvPr id="4" name="Shape 2"/>
          <p:cNvSpPr/>
          <p:nvPr/>
        </p:nvSpPr>
        <p:spPr>
          <a:xfrm>
            <a:off x="457200" y="457200"/>
            <a:ext cx="2377440" cy="365760"/>
          </a:xfrm>
          <a:prstGeom prst="roundRect">
            <a:avLst>
              <a:gd name="adj" fmla="val 20000"/>
            </a:avLst>
          </a:prstGeom>
          <a:solidFill>
            <a:srgbClr val="5FA85D">
              <a:alpha val="9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08  ·  RESPONSIBILITIES</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1B1F23"/>
                </a:solidFill>
                <a:latin typeface="Cambria" pitchFamily="34" charset="0"/>
                <a:ea typeface="Cambria" pitchFamily="34" charset="-122"/>
                <a:cs typeface="Cambria" pitchFamily="34" charset="-120"/>
              </a:rPr>
              <a:t>Key Responsibilities</a:t>
            </a:r>
            <a:endParaRPr lang="en-US" sz="3200" dirty="0"/>
          </a:p>
        </p:txBody>
      </p:sp>
      <p:sp>
        <p:nvSpPr>
          <p:cNvPr id="7" name="Shape 5"/>
          <p:cNvSpPr/>
          <p:nvPr/>
        </p:nvSpPr>
        <p:spPr>
          <a:xfrm>
            <a:off x="457200" y="1874520"/>
            <a:ext cx="457200" cy="457200"/>
          </a:xfrm>
          <a:prstGeom prst="roundRect">
            <a:avLst>
              <a:gd name="adj" fmla="val 16000"/>
            </a:avLst>
          </a:prstGeom>
          <a:solidFill>
            <a:srgbClr val="5FA85D"/>
          </a:solidFill>
          <a:ln/>
        </p:spPr>
      </p:sp>
      <p:sp>
        <p:nvSpPr>
          <p:cNvPr id="8" name="Text 6"/>
          <p:cNvSpPr/>
          <p:nvPr/>
        </p:nvSpPr>
        <p:spPr>
          <a:xfrm>
            <a:off x="457200" y="18745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097280" y="1856232"/>
            <a:ext cx="9875520" cy="502920"/>
          </a:xfrm>
          <a:prstGeom prst="rect">
            <a:avLst/>
          </a:prstGeom>
          <a:noFill/>
          <a:ln/>
        </p:spPr>
        <p:txBody>
          <a:bodyPr wrap="square" rtlCol="0" anchor="ctr"/>
          <a:lstStyle/>
          <a:p>
            <a:pPr indent="0" marL="0">
              <a:buNone/>
            </a:pPr>
            <a:r>
              <a:rPr lang="en-US" sz="1450" dirty="0">
                <a:solidFill>
                  <a:srgbClr val="1B1F23"/>
                </a:solidFill>
                <a:latin typeface="Calibri" pitchFamily="34" charset="0"/>
                <a:ea typeface="Calibri" pitchFamily="34" charset="-122"/>
                <a:cs typeface="Calibri" pitchFamily="34" charset="-120"/>
              </a:rPr>
              <a:t>Developed and worked on backend functionalities using Node.js</a:t>
            </a:r>
            <a:endParaRPr lang="en-US" sz="1450" dirty="0"/>
          </a:p>
        </p:txBody>
      </p:sp>
      <p:sp>
        <p:nvSpPr>
          <p:cNvPr id="10" name="Shape 8"/>
          <p:cNvSpPr/>
          <p:nvPr/>
        </p:nvSpPr>
        <p:spPr>
          <a:xfrm>
            <a:off x="1097280" y="2404872"/>
            <a:ext cx="9692640" cy="0"/>
          </a:xfrm>
          <a:prstGeom prst="line">
            <a:avLst/>
          </a:prstGeom>
          <a:noFill/>
          <a:ln w="12700">
            <a:solidFill>
              <a:srgbClr val="DDDDDD"/>
            </a:solidFill>
            <a:prstDash val="solid"/>
          </a:ln>
        </p:spPr>
      </p:sp>
      <p:sp>
        <p:nvSpPr>
          <p:cNvPr id="11" name="Shape 9"/>
          <p:cNvSpPr/>
          <p:nvPr/>
        </p:nvSpPr>
        <p:spPr>
          <a:xfrm>
            <a:off x="457200" y="2560320"/>
            <a:ext cx="457200" cy="457200"/>
          </a:xfrm>
          <a:prstGeom prst="roundRect">
            <a:avLst>
              <a:gd name="adj" fmla="val 16000"/>
            </a:avLst>
          </a:prstGeom>
          <a:solidFill>
            <a:srgbClr val="5FA85D"/>
          </a:solidFill>
          <a:ln/>
        </p:spPr>
      </p:sp>
      <p:sp>
        <p:nvSpPr>
          <p:cNvPr id="12" name="Text 10"/>
          <p:cNvSpPr/>
          <p:nvPr/>
        </p:nvSpPr>
        <p:spPr>
          <a:xfrm>
            <a:off x="457200" y="25603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1097280" y="2542032"/>
            <a:ext cx="9875520" cy="502920"/>
          </a:xfrm>
          <a:prstGeom prst="rect">
            <a:avLst/>
          </a:prstGeom>
          <a:noFill/>
          <a:ln/>
        </p:spPr>
        <p:txBody>
          <a:bodyPr wrap="square" rtlCol="0" anchor="ctr"/>
          <a:lstStyle/>
          <a:p>
            <a:pPr indent="0" marL="0">
              <a:buNone/>
            </a:pPr>
            <a:r>
              <a:rPr lang="en-US" sz="1450" dirty="0">
                <a:solidFill>
                  <a:srgbClr val="1B1F23"/>
                </a:solidFill>
                <a:latin typeface="Calibri" pitchFamily="34" charset="0"/>
                <a:ea typeface="Calibri" pitchFamily="34" charset="-122"/>
                <a:cs typeface="Calibri" pitchFamily="34" charset="-120"/>
              </a:rPr>
              <a:t>Assisted in implementing and maintaining HRMS-related features</a:t>
            </a:r>
            <a:endParaRPr lang="en-US" sz="1450" dirty="0"/>
          </a:p>
        </p:txBody>
      </p:sp>
      <p:sp>
        <p:nvSpPr>
          <p:cNvPr id="14" name="Shape 12"/>
          <p:cNvSpPr/>
          <p:nvPr/>
        </p:nvSpPr>
        <p:spPr>
          <a:xfrm>
            <a:off x="1097280" y="3090672"/>
            <a:ext cx="9692640" cy="0"/>
          </a:xfrm>
          <a:prstGeom prst="line">
            <a:avLst/>
          </a:prstGeom>
          <a:noFill/>
          <a:ln w="12700">
            <a:solidFill>
              <a:srgbClr val="DDDDDD"/>
            </a:solidFill>
            <a:prstDash val="solid"/>
          </a:ln>
        </p:spPr>
      </p:sp>
      <p:sp>
        <p:nvSpPr>
          <p:cNvPr id="15" name="Shape 13"/>
          <p:cNvSpPr/>
          <p:nvPr/>
        </p:nvSpPr>
        <p:spPr>
          <a:xfrm>
            <a:off x="457200" y="3246120"/>
            <a:ext cx="457200" cy="457200"/>
          </a:xfrm>
          <a:prstGeom prst="roundRect">
            <a:avLst>
              <a:gd name="adj" fmla="val 16000"/>
            </a:avLst>
          </a:prstGeom>
          <a:solidFill>
            <a:srgbClr val="5FA85D"/>
          </a:solidFill>
          <a:ln/>
        </p:spPr>
      </p:sp>
      <p:sp>
        <p:nvSpPr>
          <p:cNvPr id="16" name="Text 14"/>
          <p:cNvSpPr/>
          <p:nvPr/>
        </p:nvSpPr>
        <p:spPr>
          <a:xfrm>
            <a:off x="457200" y="32461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7" name="Text 15"/>
          <p:cNvSpPr/>
          <p:nvPr/>
        </p:nvSpPr>
        <p:spPr>
          <a:xfrm>
            <a:off x="1097280" y="3227832"/>
            <a:ext cx="9875520" cy="502920"/>
          </a:xfrm>
          <a:prstGeom prst="rect">
            <a:avLst/>
          </a:prstGeom>
          <a:noFill/>
          <a:ln/>
        </p:spPr>
        <p:txBody>
          <a:bodyPr wrap="square" rtlCol="0" anchor="ctr"/>
          <a:lstStyle/>
          <a:p>
            <a:pPr indent="0" marL="0">
              <a:buNone/>
            </a:pPr>
            <a:r>
              <a:rPr lang="en-US" sz="1450" dirty="0">
                <a:solidFill>
                  <a:srgbClr val="1B1F23"/>
                </a:solidFill>
                <a:latin typeface="Calibri" pitchFamily="34" charset="0"/>
                <a:ea typeface="Calibri" pitchFamily="34" charset="-122"/>
                <a:cs typeface="Calibri" pitchFamily="34" charset="-120"/>
              </a:rPr>
              <a:t>Worked with APIs and server-side application logic</a:t>
            </a:r>
            <a:endParaRPr lang="en-US" sz="1450" dirty="0"/>
          </a:p>
        </p:txBody>
      </p:sp>
      <p:sp>
        <p:nvSpPr>
          <p:cNvPr id="18" name="Shape 16"/>
          <p:cNvSpPr/>
          <p:nvPr/>
        </p:nvSpPr>
        <p:spPr>
          <a:xfrm>
            <a:off x="1097280" y="3776472"/>
            <a:ext cx="9692640" cy="0"/>
          </a:xfrm>
          <a:prstGeom prst="line">
            <a:avLst/>
          </a:prstGeom>
          <a:noFill/>
          <a:ln w="12700">
            <a:solidFill>
              <a:srgbClr val="DDDDDD"/>
            </a:solidFill>
            <a:prstDash val="solid"/>
          </a:ln>
        </p:spPr>
      </p:sp>
      <p:sp>
        <p:nvSpPr>
          <p:cNvPr id="19" name="Shape 17"/>
          <p:cNvSpPr/>
          <p:nvPr/>
        </p:nvSpPr>
        <p:spPr>
          <a:xfrm>
            <a:off x="457200" y="3931920"/>
            <a:ext cx="457200" cy="457200"/>
          </a:xfrm>
          <a:prstGeom prst="roundRect">
            <a:avLst>
              <a:gd name="adj" fmla="val 16000"/>
            </a:avLst>
          </a:prstGeom>
          <a:solidFill>
            <a:srgbClr val="5FA85D"/>
          </a:solidFill>
          <a:ln/>
        </p:spPr>
      </p:sp>
      <p:sp>
        <p:nvSpPr>
          <p:cNvPr id="20" name="Text 18"/>
          <p:cNvSpPr/>
          <p:nvPr/>
        </p:nvSpPr>
        <p:spPr>
          <a:xfrm>
            <a:off x="45720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1" name="Text 19"/>
          <p:cNvSpPr/>
          <p:nvPr/>
        </p:nvSpPr>
        <p:spPr>
          <a:xfrm>
            <a:off x="1097280" y="3913632"/>
            <a:ext cx="9875520" cy="502920"/>
          </a:xfrm>
          <a:prstGeom prst="rect">
            <a:avLst/>
          </a:prstGeom>
          <a:noFill/>
          <a:ln/>
        </p:spPr>
        <p:txBody>
          <a:bodyPr wrap="square" rtlCol="0" anchor="ctr"/>
          <a:lstStyle/>
          <a:p>
            <a:pPr indent="0" marL="0">
              <a:buNone/>
            </a:pPr>
            <a:r>
              <a:rPr lang="en-US" sz="1450" dirty="0">
                <a:solidFill>
                  <a:srgbClr val="1B1F23"/>
                </a:solidFill>
                <a:latin typeface="Calibri" pitchFamily="34" charset="0"/>
                <a:ea typeface="Calibri" pitchFamily="34" charset="-122"/>
                <a:cs typeface="Calibri" pitchFamily="34" charset="-120"/>
              </a:rPr>
              <a:t>Participated in debugging and resolving development issues</a:t>
            </a:r>
            <a:endParaRPr lang="en-US" sz="1450" dirty="0"/>
          </a:p>
        </p:txBody>
      </p:sp>
      <p:sp>
        <p:nvSpPr>
          <p:cNvPr id="22" name="Shape 20"/>
          <p:cNvSpPr/>
          <p:nvPr/>
        </p:nvSpPr>
        <p:spPr>
          <a:xfrm>
            <a:off x="1097280" y="4462272"/>
            <a:ext cx="9692640" cy="0"/>
          </a:xfrm>
          <a:prstGeom prst="line">
            <a:avLst/>
          </a:prstGeom>
          <a:noFill/>
          <a:ln w="12700">
            <a:solidFill>
              <a:srgbClr val="DDDDDD"/>
            </a:solidFill>
            <a:prstDash val="solid"/>
          </a:ln>
        </p:spPr>
      </p:sp>
      <p:sp>
        <p:nvSpPr>
          <p:cNvPr id="23" name="Shape 21"/>
          <p:cNvSpPr/>
          <p:nvPr/>
        </p:nvSpPr>
        <p:spPr>
          <a:xfrm>
            <a:off x="457200" y="4617720"/>
            <a:ext cx="457200" cy="457200"/>
          </a:xfrm>
          <a:prstGeom prst="roundRect">
            <a:avLst>
              <a:gd name="adj" fmla="val 16000"/>
            </a:avLst>
          </a:prstGeom>
          <a:solidFill>
            <a:srgbClr val="5FA85D"/>
          </a:solidFill>
          <a:ln/>
        </p:spPr>
      </p:sp>
      <p:sp>
        <p:nvSpPr>
          <p:cNvPr id="24" name="Text 22"/>
          <p:cNvSpPr/>
          <p:nvPr/>
        </p:nvSpPr>
        <p:spPr>
          <a:xfrm>
            <a:off x="457200" y="46177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5" name="Text 23"/>
          <p:cNvSpPr/>
          <p:nvPr/>
        </p:nvSpPr>
        <p:spPr>
          <a:xfrm>
            <a:off x="1097280" y="4599432"/>
            <a:ext cx="9875520" cy="502920"/>
          </a:xfrm>
          <a:prstGeom prst="rect">
            <a:avLst/>
          </a:prstGeom>
          <a:noFill/>
          <a:ln/>
        </p:spPr>
        <p:txBody>
          <a:bodyPr wrap="square" rtlCol="0" anchor="ctr"/>
          <a:lstStyle/>
          <a:p>
            <a:pPr indent="0" marL="0">
              <a:buNone/>
            </a:pPr>
            <a:r>
              <a:rPr lang="en-US" sz="1450" dirty="0">
                <a:solidFill>
                  <a:srgbClr val="1B1F23"/>
                </a:solidFill>
                <a:latin typeface="Calibri" pitchFamily="34" charset="0"/>
                <a:ea typeface="Calibri" pitchFamily="34" charset="-122"/>
                <a:cs typeface="Calibri" pitchFamily="34" charset="-120"/>
              </a:rPr>
              <a:t>Collaborated closely with the HRMS development team</a:t>
            </a:r>
            <a:endParaRPr lang="en-US" sz="1450" dirty="0"/>
          </a:p>
        </p:txBody>
      </p:sp>
      <p:sp>
        <p:nvSpPr>
          <p:cNvPr id="26" name="Shape 24"/>
          <p:cNvSpPr/>
          <p:nvPr/>
        </p:nvSpPr>
        <p:spPr>
          <a:xfrm>
            <a:off x="1097280" y="5148072"/>
            <a:ext cx="9692640" cy="0"/>
          </a:xfrm>
          <a:prstGeom prst="line">
            <a:avLst/>
          </a:prstGeom>
          <a:noFill/>
          <a:ln w="12700">
            <a:solidFill>
              <a:srgbClr val="DDDDDD"/>
            </a:solidFill>
            <a:prstDash val="solid"/>
          </a:ln>
        </p:spPr>
      </p:sp>
      <p:sp>
        <p:nvSpPr>
          <p:cNvPr id="27" name="Shape 25"/>
          <p:cNvSpPr/>
          <p:nvPr/>
        </p:nvSpPr>
        <p:spPr>
          <a:xfrm>
            <a:off x="457200" y="5303520"/>
            <a:ext cx="457200" cy="457200"/>
          </a:xfrm>
          <a:prstGeom prst="roundRect">
            <a:avLst>
              <a:gd name="adj" fmla="val 16000"/>
            </a:avLst>
          </a:prstGeom>
          <a:solidFill>
            <a:srgbClr val="5FA85D"/>
          </a:solidFill>
          <a:ln/>
        </p:spPr>
      </p:sp>
      <p:sp>
        <p:nvSpPr>
          <p:cNvPr id="28" name="Text 26"/>
          <p:cNvSpPr/>
          <p:nvPr/>
        </p:nvSpPr>
        <p:spPr>
          <a:xfrm>
            <a:off x="457200" y="53035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9" name="Text 27"/>
          <p:cNvSpPr/>
          <p:nvPr/>
        </p:nvSpPr>
        <p:spPr>
          <a:xfrm>
            <a:off x="1097280" y="5285232"/>
            <a:ext cx="9875520" cy="502920"/>
          </a:xfrm>
          <a:prstGeom prst="rect">
            <a:avLst/>
          </a:prstGeom>
          <a:noFill/>
          <a:ln/>
        </p:spPr>
        <p:txBody>
          <a:bodyPr wrap="square" rtlCol="0" anchor="ctr"/>
          <a:lstStyle/>
          <a:p>
            <a:pPr indent="0" marL="0">
              <a:buNone/>
            </a:pPr>
            <a:r>
              <a:rPr lang="en-US" sz="1450" dirty="0">
                <a:solidFill>
                  <a:srgbClr val="1B1F23"/>
                </a:solidFill>
                <a:latin typeface="Calibri" pitchFamily="34" charset="0"/>
                <a:ea typeface="Calibri" pitchFamily="34" charset="-122"/>
                <a:cs typeface="Calibri" pitchFamily="34" charset="-120"/>
              </a:rPr>
              <a:t>Followed professional software development practices and workflows</a:t>
            </a:r>
            <a:endParaRPr lang="en-US" sz="1450" dirty="0"/>
          </a:p>
        </p:txBody>
      </p:sp>
      <p:sp>
        <p:nvSpPr>
          <p:cNvPr id="30" name="Text 28"/>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5FA85D">
              <a:alpha val="85000"/>
            </a:srgbClr>
          </a:solidFill>
          <a:ln/>
        </p:spPr>
      </p:sp>
      <p:sp>
        <p:nvSpPr>
          <p:cNvPr id="3" name="Shape 1"/>
          <p:cNvSpPr/>
          <p:nvPr/>
        </p:nvSpPr>
        <p:spPr>
          <a:xfrm>
            <a:off x="-548640" y="5943600"/>
            <a:ext cx="1463040" cy="1463040"/>
          </a:xfrm>
          <a:prstGeom prst="ellipse">
            <a:avLst/>
          </a:prstGeom>
          <a:solidFill>
            <a:srgbClr val="5FA85D">
              <a:alpha val="75000"/>
            </a:srgbClr>
          </a:solidFill>
          <a:ln/>
        </p:spPr>
      </p:sp>
      <p:sp>
        <p:nvSpPr>
          <p:cNvPr id="4" name="Shape 2"/>
          <p:cNvSpPr/>
          <p:nvPr/>
        </p:nvSpPr>
        <p:spPr>
          <a:xfrm>
            <a:off x="457200" y="457200"/>
            <a:ext cx="2377440" cy="365760"/>
          </a:xfrm>
          <a:prstGeom prst="roundRect">
            <a:avLst>
              <a:gd name="adj" fmla="val 20000"/>
            </a:avLst>
          </a:prstGeom>
          <a:solidFill>
            <a:srgbClr val="5FA85D">
              <a:alpha val="9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09  ·  LEARNING OUTCOMES</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1B1F23"/>
                </a:solidFill>
                <a:latin typeface="Cambria" pitchFamily="34" charset="0"/>
                <a:ea typeface="Cambria" pitchFamily="34" charset="-122"/>
                <a:cs typeface="Cambria" pitchFamily="34" charset="-120"/>
              </a:rPr>
              <a:t>Learning Outcomes</a:t>
            </a:r>
            <a:endParaRPr lang="en-US" sz="3200" dirty="0"/>
          </a:p>
        </p:txBody>
      </p:sp>
      <p:sp>
        <p:nvSpPr>
          <p:cNvPr id="7" name="Shape 5"/>
          <p:cNvSpPr/>
          <p:nvPr/>
        </p:nvSpPr>
        <p:spPr>
          <a:xfrm>
            <a:off x="457200" y="1874520"/>
            <a:ext cx="3429000" cy="2103120"/>
          </a:xfrm>
          <a:prstGeom prst="roundRect">
            <a:avLst>
              <a:gd name="adj" fmla="val 4348"/>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8" name="Shape 6"/>
          <p:cNvSpPr/>
          <p:nvPr/>
        </p:nvSpPr>
        <p:spPr>
          <a:xfrm>
            <a:off x="457200" y="1874520"/>
            <a:ext cx="73152" cy="2103120"/>
          </a:xfrm>
          <a:prstGeom prst="rect">
            <a:avLst/>
          </a:prstGeom>
          <a:solidFill>
            <a:srgbClr val="5FA85D"/>
          </a:solidFill>
          <a:ln/>
        </p:spPr>
      </p:sp>
      <p:sp>
        <p:nvSpPr>
          <p:cNvPr id="9" name="Text 7"/>
          <p:cNvSpPr/>
          <p:nvPr/>
        </p:nvSpPr>
        <p:spPr>
          <a:xfrm>
            <a:off x="731520" y="2057400"/>
            <a:ext cx="2971800" cy="411480"/>
          </a:xfrm>
          <a:prstGeom prst="rect">
            <a:avLst/>
          </a:prstGeom>
          <a:noFill/>
          <a:ln/>
        </p:spPr>
        <p:txBody>
          <a:bodyPr wrap="square" rtlCol="0" anchor="ctr"/>
          <a:lstStyle/>
          <a:p>
            <a:pPr indent="0" marL="0">
              <a:buNone/>
            </a:pPr>
            <a:r>
              <a:rPr lang="en-US" sz="1450" b="1" dirty="0">
                <a:solidFill>
                  <a:srgbClr val="1B1F23"/>
                </a:solidFill>
                <a:latin typeface="Cambria" pitchFamily="34" charset="0"/>
                <a:ea typeface="Cambria" pitchFamily="34" charset="-122"/>
                <a:cs typeface="Cambria" pitchFamily="34" charset="-120"/>
              </a:rPr>
              <a:t>Technical Skills</a:t>
            </a:r>
            <a:endParaRPr lang="en-US" sz="1450" dirty="0"/>
          </a:p>
        </p:txBody>
      </p:sp>
      <p:sp>
        <p:nvSpPr>
          <p:cNvPr id="10" name="Text 8"/>
          <p:cNvSpPr/>
          <p:nvPr/>
        </p:nvSpPr>
        <p:spPr>
          <a:xfrm>
            <a:off x="731520" y="2468880"/>
            <a:ext cx="2971800" cy="1371600"/>
          </a:xfrm>
          <a:prstGeom prst="rect">
            <a:avLst/>
          </a:prstGeom>
          <a:noFill/>
          <a:ln/>
        </p:spPr>
        <p:txBody>
          <a:bodyPr wrap="square" rtlCol="0" anchor="t"/>
          <a:lstStyle/>
          <a:p>
            <a:pPr indent="0" marL="0">
              <a:lnSpc>
                <a:spcPct val="120000"/>
              </a:lnSpc>
              <a:buNone/>
            </a:pPr>
            <a:r>
              <a:rPr lang="en-US" sz="1150" dirty="0">
                <a:solidFill>
                  <a:srgbClr val="444444"/>
                </a:solidFill>
                <a:latin typeface="Calibri" pitchFamily="34" charset="0"/>
                <a:ea typeface="Calibri" pitchFamily="34" charset="-122"/>
                <a:cs typeface="Calibri" pitchFamily="34" charset="-120"/>
              </a:rPr>
              <a:t>Node.js, JavaScript, backend &amp; web development, API concepts, server-side programming, debugging, application workflow</a:t>
            </a:r>
            <a:endParaRPr lang="en-US" sz="1150" dirty="0"/>
          </a:p>
        </p:txBody>
      </p:sp>
      <p:sp>
        <p:nvSpPr>
          <p:cNvPr id="11" name="Shape 9"/>
          <p:cNvSpPr/>
          <p:nvPr/>
        </p:nvSpPr>
        <p:spPr>
          <a:xfrm>
            <a:off x="4069080" y="1874520"/>
            <a:ext cx="3429000" cy="2103120"/>
          </a:xfrm>
          <a:prstGeom prst="roundRect">
            <a:avLst>
              <a:gd name="adj" fmla="val 4348"/>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12" name="Shape 10"/>
          <p:cNvSpPr/>
          <p:nvPr/>
        </p:nvSpPr>
        <p:spPr>
          <a:xfrm>
            <a:off x="4069080" y="1874520"/>
            <a:ext cx="73152" cy="2103120"/>
          </a:xfrm>
          <a:prstGeom prst="rect">
            <a:avLst/>
          </a:prstGeom>
          <a:solidFill>
            <a:srgbClr val="5FA85D"/>
          </a:solidFill>
          <a:ln/>
        </p:spPr>
      </p:sp>
      <p:sp>
        <p:nvSpPr>
          <p:cNvPr id="13" name="Text 11"/>
          <p:cNvSpPr/>
          <p:nvPr/>
        </p:nvSpPr>
        <p:spPr>
          <a:xfrm>
            <a:off x="4343400" y="2057400"/>
            <a:ext cx="2971800" cy="411480"/>
          </a:xfrm>
          <a:prstGeom prst="rect">
            <a:avLst/>
          </a:prstGeom>
          <a:noFill/>
          <a:ln/>
        </p:spPr>
        <p:txBody>
          <a:bodyPr wrap="square" rtlCol="0" anchor="ctr"/>
          <a:lstStyle/>
          <a:p>
            <a:pPr indent="0" marL="0">
              <a:buNone/>
            </a:pPr>
            <a:r>
              <a:rPr lang="en-US" sz="1450" b="1" dirty="0">
                <a:solidFill>
                  <a:srgbClr val="1B1F23"/>
                </a:solidFill>
                <a:latin typeface="Cambria" pitchFamily="34" charset="0"/>
                <a:ea typeface="Cambria" pitchFamily="34" charset="-122"/>
                <a:cs typeface="Cambria" pitchFamily="34" charset="-120"/>
              </a:rPr>
              <a:t>Problem-Solving</a:t>
            </a:r>
            <a:endParaRPr lang="en-US" sz="1450" dirty="0"/>
          </a:p>
        </p:txBody>
      </p:sp>
      <p:sp>
        <p:nvSpPr>
          <p:cNvPr id="14" name="Text 12"/>
          <p:cNvSpPr/>
          <p:nvPr/>
        </p:nvSpPr>
        <p:spPr>
          <a:xfrm>
            <a:off x="4343400" y="2468880"/>
            <a:ext cx="2971800" cy="1371600"/>
          </a:xfrm>
          <a:prstGeom prst="rect">
            <a:avLst/>
          </a:prstGeom>
          <a:noFill/>
          <a:ln/>
        </p:spPr>
        <p:txBody>
          <a:bodyPr wrap="square" rtlCol="0" anchor="t"/>
          <a:lstStyle/>
          <a:p>
            <a:pPr indent="0" marL="0">
              <a:lnSpc>
                <a:spcPct val="120000"/>
              </a:lnSpc>
              <a:buNone/>
            </a:pPr>
            <a:r>
              <a:rPr lang="en-US" sz="1150" dirty="0">
                <a:solidFill>
                  <a:srgbClr val="444444"/>
                </a:solidFill>
                <a:latin typeface="Calibri" pitchFamily="34" charset="0"/>
                <a:ea typeface="Calibri" pitchFamily="34" charset="-122"/>
                <a:cs typeface="Calibri" pitchFamily="34" charset="-120"/>
              </a:rPr>
              <a:t>Improved ability to identify problems, analyze root causes, and find appropriate solutions</a:t>
            </a:r>
            <a:endParaRPr lang="en-US" sz="1150" dirty="0"/>
          </a:p>
        </p:txBody>
      </p:sp>
      <p:sp>
        <p:nvSpPr>
          <p:cNvPr id="15" name="Shape 13"/>
          <p:cNvSpPr/>
          <p:nvPr/>
        </p:nvSpPr>
        <p:spPr>
          <a:xfrm>
            <a:off x="7680960" y="1874520"/>
            <a:ext cx="3429000" cy="2103120"/>
          </a:xfrm>
          <a:prstGeom prst="roundRect">
            <a:avLst>
              <a:gd name="adj" fmla="val 4348"/>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16" name="Shape 14"/>
          <p:cNvSpPr/>
          <p:nvPr/>
        </p:nvSpPr>
        <p:spPr>
          <a:xfrm>
            <a:off x="7680960" y="1874520"/>
            <a:ext cx="73152" cy="2103120"/>
          </a:xfrm>
          <a:prstGeom prst="rect">
            <a:avLst/>
          </a:prstGeom>
          <a:solidFill>
            <a:srgbClr val="5FA85D"/>
          </a:solidFill>
          <a:ln/>
        </p:spPr>
      </p:sp>
      <p:sp>
        <p:nvSpPr>
          <p:cNvPr id="17" name="Text 15"/>
          <p:cNvSpPr/>
          <p:nvPr/>
        </p:nvSpPr>
        <p:spPr>
          <a:xfrm>
            <a:off x="7955280" y="2057400"/>
            <a:ext cx="2971800" cy="411480"/>
          </a:xfrm>
          <a:prstGeom prst="rect">
            <a:avLst/>
          </a:prstGeom>
          <a:noFill/>
          <a:ln/>
        </p:spPr>
        <p:txBody>
          <a:bodyPr wrap="square" rtlCol="0" anchor="ctr"/>
          <a:lstStyle/>
          <a:p>
            <a:pPr indent="0" marL="0">
              <a:buNone/>
            </a:pPr>
            <a:r>
              <a:rPr lang="en-US" sz="1450" b="1" dirty="0">
                <a:solidFill>
                  <a:srgbClr val="1B1F23"/>
                </a:solidFill>
                <a:latin typeface="Cambria" pitchFamily="34" charset="0"/>
                <a:ea typeface="Cambria" pitchFamily="34" charset="-122"/>
                <a:cs typeface="Cambria" pitchFamily="34" charset="-120"/>
              </a:rPr>
              <a:t>Teamwork</a:t>
            </a:r>
            <a:endParaRPr lang="en-US" sz="1450" dirty="0"/>
          </a:p>
        </p:txBody>
      </p:sp>
      <p:sp>
        <p:nvSpPr>
          <p:cNvPr id="18" name="Text 16"/>
          <p:cNvSpPr/>
          <p:nvPr/>
        </p:nvSpPr>
        <p:spPr>
          <a:xfrm>
            <a:off x="7955280" y="2468880"/>
            <a:ext cx="2971800" cy="1371600"/>
          </a:xfrm>
          <a:prstGeom prst="rect">
            <a:avLst/>
          </a:prstGeom>
          <a:noFill/>
          <a:ln/>
        </p:spPr>
        <p:txBody>
          <a:bodyPr wrap="square" rtlCol="0" anchor="t"/>
          <a:lstStyle/>
          <a:p>
            <a:pPr indent="0" marL="0">
              <a:lnSpc>
                <a:spcPct val="120000"/>
              </a:lnSpc>
              <a:buNone/>
            </a:pPr>
            <a:r>
              <a:rPr lang="en-US" sz="1150" dirty="0">
                <a:solidFill>
                  <a:srgbClr val="444444"/>
                </a:solidFill>
                <a:latin typeface="Calibri" pitchFamily="34" charset="0"/>
                <a:ea typeface="Calibri" pitchFamily="34" charset="-122"/>
                <a:cs typeface="Calibri" pitchFamily="34" charset="-120"/>
              </a:rPr>
              <a:t>Gained experience collaborating effectively within a development team</a:t>
            </a:r>
            <a:endParaRPr lang="en-US" sz="1150" dirty="0"/>
          </a:p>
        </p:txBody>
      </p:sp>
      <p:sp>
        <p:nvSpPr>
          <p:cNvPr id="19" name="Shape 17"/>
          <p:cNvSpPr/>
          <p:nvPr/>
        </p:nvSpPr>
        <p:spPr>
          <a:xfrm>
            <a:off x="457200" y="4160520"/>
            <a:ext cx="3429000" cy="1920240"/>
          </a:xfrm>
          <a:prstGeom prst="roundRect">
            <a:avLst>
              <a:gd name="adj" fmla="val 4762"/>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20" name="Shape 18"/>
          <p:cNvSpPr/>
          <p:nvPr/>
        </p:nvSpPr>
        <p:spPr>
          <a:xfrm>
            <a:off x="457200" y="4160520"/>
            <a:ext cx="73152" cy="1920240"/>
          </a:xfrm>
          <a:prstGeom prst="rect">
            <a:avLst/>
          </a:prstGeom>
          <a:solidFill>
            <a:srgbClr val="5FA85D"/>
          </a:solidFill>
          <a:ln/>
        </p:spPr>
      </p:sp>
      <p:sp>
        <p:nvSpPr>
          <p:cNvPr id="21" name="Text 19"/>
          <p:cNvSpPr/>
          <p:nvPr/>
        </p:nvSpPr>
        <p:spPr>
          <a:xfrm>
            <a:off x="731520" y="4343400"/>
            <a:ext cx="2971800" cy="411480"/>
          </a:xfrm>
          <a:prstGeom prst="rect">
            <a:avLst/>
          </a:prstGeom>
          <a:noFill/>
          <a:ln/>
        </p:spPr>
        <p:txBody>
          <a:bodyPr wrap="square" rtlCol="0" anchor="ctr"/>
          <a:lstStyle/>
          <a:p>
            <a:pPr indent="0" marL="0">
              <a:buNone/>
            </a:pPr>
            <a:r>
              <a:rPr lang="en-US" sz="1450" b="1" dirty="0">
                <a:solidFill>
                  <a:srgbClr val="1B1F23"/>
                </a:solidFill>
                <a:latin typeface="Cambria" pitchFamily="34" charset="0"/>
                <a:ea typeface="Cambria" pitchFamily="34" charset="-122"/>
                <a:cs typeface="Cambria" pitchFamily="34" charset="-120"/>
              </a:rPr>
              <a:t>Professional Skills</a:t>
            </a:r>
            <a:endParaRPr lang="en-US" sz="1450" dirty="0"/>
          </a:p>
        </p:txBody>
      </p:sp>
      <p:sp>
        <p:nvSpPr>
          <p:cNvPr id="22" name="Text 20"/>
          <p:cNvSpPr/>
          <p:nvPr/>
        </p:nvSpPr>
        <p:spPr>
          <a:xfrm>
            <a:off x="731520" y="4754880"/>
            <a:ext cx="2971800" cy="1188720"/>
          </a:xfrm>
          <a:prstGeom prst="rect">
            <a:avLst/>
          </a:prstGeom>
          <a:noFill/>
          <a:ln/>
        </p:spPr>
        <p:txBody>
          <a:bodyPr wrap="square" rtlCol="0" anchor="t"/>
          <a:lstStyle/>
          <a:p>
            <a:pPr indent="0" marL="0">
              <a:lnSpc>
                <a:spcPct val="120000"/>
              </a:lnSpc>
              <a:buNone/>
            </a:pPr>
            <a:r>
              <a:rPr lang="en-US" sz="1150" dirty="0">
                <a:solidFill>
                  <a:srgbClr val="444444"/>
                </a:solidFill>
                <a:latin typeface="Calibri" pitchFamily="34" charset="0"/>
                <a:ea typeface="Calibri" pitchFamily="34" charset="-122"/>
                <a:cs typeface="Calibri" pitchFamily="34" charset="-120"/>
              </a:rPr>
              <a:t>Communication, time management, responsibility, professional conduct, and technical documentation</a:t>
            </a:r>
            <a:endParaRPr lang="en-US" sz="1150" dirty="0"/>
          </a:p>
        </p:txBody>
      </p:sp>
      <p:sp>
        <p:nvSpPr>
          <p:cNvPr id="23" name="Shape 21"/>
          <p:cNvSpPr/>
          <p:nvPr/>
        </p:nvSpPr>
        <p:spPr>
          <a:xfrm>
            <a:off x="4069080" y="4160520"/>
            <a:ext cx="7040880" cy="1920240"/>
          </a:xfrm>
          <a:prstGeom prst="roundRect">
            <a:avLst>
              <a:gd name="adj" fmla="val 4762"/>
            </a:avLst>
          </a:prstGeom>
          <a:solidFill>
            <a:srgbClr val="FFFFFF"/>
          </a:solidFill>
          <a:ln w="12700">
            <a:solidFill>
              <a:srgbClr val="DDDDDD"/>
            </a:solidFill>
            <a:prstDash val="solid"/>
          </a:ln>
          <a:effectLst>
            <a:outerShdw sx="100000" sy="100000" kx="0" ky="0" algn="bl" rotWithShape="0" blurRad="76200" dist="25400" dir="5400000">
              <a:srgbClr val="999999">
                <a:alpha val="20000"/>
              </a:srgbClr>
            </a:outerShdw>
          </a:effectLst>
        </p:spPr>
      </p:sp>
      <p:sp>
        <p:nvSpPr>
          <p:cNvPr id="24" name="Shape 22"/>
          <p:cNvSpPr/>
          <p:nvPr/>
        </p:nvSpPr>
        <p:spPr>
          <a:xfrm>
            <a:off x="4069080" y="4160520"/>
            <a:ext cx="73152" cy="1920240"/>
          </a:xfrm>
          <a:prstGeom prst="rect">
            <a:avLst/>
          </a:prstGeom>
          <a:solidFill>
            <a:srgbClr val="5FA85D"/>
          </a:solidFill>
          <a:ln/>
        </p:spPr>
      </p:sp>
      <p:sp>
        <p:nvSpPr>
          <p:cNvPr id="25" name="Text 23"/>
          <p:cNvSpPr/>
          <p:nvPr/>
        </p:nvSpPr>
        <p:spPr>
          <a:xfrm>
            <a:off x="4343400" y="4343400"/>
            <a:ext cx="6583680" cy="411480"/>
          </a:xfrm>
          <a:prstGeom prst="rect">
            <a:avLst/>
          </a:prstGeom>
          <a:noFill/>
          <a:ln/>
        </p:spPr>
        <p:txBody>
          <a:bodyPr wrap="square" rtlCol="0" anchor="ctr"/>
          <a:lstStyle/>
          <a:p>
            <a:pPr indent="0" marL="0">
              <a:buNone/>
            </a:pPr>
            <a:r>
              <a:rPr lang="en-US" sz="1450" b="1" dirty="0">
                <a:solidFill>
                  <a:srgbClr val="1B1F23"/>
                </a:solidFill>
                <a:latin typeface="Cambria" pitchFamily="34" charset="0"/>
                <a:ea typeface="Cambria" pitchFamily="34" charset="-122"/>
                <a:cs typeface="Cambria" pitchFamily="34" charset="-120"/>
              </a:rPr>
              <a:t>Industry Exposure</a:t>
            </a:r>
            <a:endParaRPr lang="en-US" sz="1450" dirty="0"/>
          </a:p>
        </p:txBody>
      </p:sp>
      <p:sp>
        <p:nvSpPr>
          <p:cNvPr id="26" name="Text 24"/>
          <p:cNvSpPr/>
          <p:nvPr/>
        </p:nvSpPr>
        <p:spPr>
          <a:xfrm>
            <a:off x="4343400" y="4754880"/>
            <a:ext cx="6583680" cy="1188720"/>
          </a:xfrm>
          <a:prstGeom prst="rect">
            <a:avLst/>
          </a:prstGeom>
          <a:noFill/>
          <a:ln/>
        </p:spPr>
        <p:txBody>
          <a:bodyPr wrap="square" rtlCol="0" anchor="t"/>
          <a:lstStyle/>
          <a:p>
            <a:pPr indent="0" marL="0">
              <a:lnSpc>
                <a:spcPct val="120000"/>
              </a:lnSpc>
              <a:buNone/>
            </a:pPr>
            <a:r>
              <a:rPr lang="en-US" sz="1150" dirty="0">
                <a:solidFill>
                  <a:srgbClr val="444444"/>
                </a:solidFill>
                <a:latin typeface="Calibri" pitchFamily="34" charset="0"/>
                <a:ea typeface="Calibri" pitchFamily="34" charset="-122"/>
                <a:cs typeface="Calibri" pitchFamily="34" charset="-120"/>
              </a:rPr>
              <a:t>Understanding of how technical knowledge is applied in a professional software development environment</a:t>
            </a:r>
            <a:endParaRPr lang="en-US" sz="1150" dirty="0"/>
          </a:p>
        </p:txBody>
      </p:sp>
      <p:sp>
        <p:nvSpPr>
          <p:cNvPr id="27" name="Text 25"/>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23"/>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3C6E3A">
              <a:alpha val="60000"/>
            </a:srgbClr>
          </a:solidFill>
          <a:ln/>
        </p:spPr>
      </p:sp>
      <p:sp>
        <p:nvSpPr>
          <p:cNvPr id="3" name="Shape 1"/>
          <p:cNvSpPr/>
          <p:nvPr/>
        </p:nvSpPr>
        <p:spPr>
          <a:xfrm>
            <a:off x="-548640" y="5943600"/>
            <a:ext cx="1463040" cy="1463040"/>
          </a:xfrm>
          <a:prstGeom prst="ellipse">
            <a:avLst/>
          </a:prstGeom>
          <a:solidFill>
            <a:srgbClr val="3C6E3A">
              <a:alpha val="45000"/>
            </a:srgbClr>
          </a:solidFill>
          <a:ln/>
        </p:spPr>
      </p:sp>
      <p:sp>
        <p:nvSpPr>
          <p:cNvPr id="4" name="Shape 2"/>
          <p:cNvSpPr/>
          <p:nvPr/>
        </p:nvSpPr>
        <p:spPr>
          <a:xfrm>
            <a:off x="457200" y="457200"/>
            <a:ext cx="2377440" cy="365760"/>
          </a:xfrm>
          <a:prstGeom prst="roundRect">
            <a:avLst>
              <a:gd name="adj" fmla="val 20000"/>
            </a:avLst>
          </a:prstGeom>
          <a:solidFill>
            <a:srgbClr val="3C6E3A">
              <a:alpha val="8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4F4F2"/>
                </a:solidFill>
                <a:latin typeface="Calibri" pitchFamily="34" charset="0"/>
                <a:ea typeface="Calibri" pitchFamily="34" charset="-122"/>
                <a:cs typeface="Calibri" pitchFamily="34" charset="-120"/>
              </a:rPr>
              <a:t>10  ·  CONCLUSION</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7" name="Text 5"/>
          <p:cNvSpPr/>
          <p:nvPr/>
        </p:nvSpPr>
        <p:spPr>
          <a:xfrm>
            <a:off x="457200" y="1920240"/>
            <a:ext cx="6675120" cy="4023360"/>
          </a:xfrm>
          <a:prstGeom prst="rect">
            <a:avLst/>
          </a:prstGeom>
          <a:noFill/>
          <a:ln/>
        </p:spPr>
        <p:txBody>
          <a:bodyPr wrap="square" rtlCol="0" anchor="t"/>
          <a:lstStyle/>
          <a:p>
            <a:pPr indent="0" marL="0">
              <a:lnSpc>
                <a:spcPct val="140000"/>
              </a:lnSpc>
              <a:buNone/>
            </a:pPr>
            <a:r>
              <a:rPr lang="en-US" sz="1500" dirty="0">
                <a:solidFill>
                  <a:srgbClr val="F4F4F2"/>
                </a:solidFill>
                <a:latin typeface="Calibri" pitchFamily="34" charset="0"/>
                <a:ea typeface="Calibri" pitchFamily="34" charset="-122"/>
                <a:cs typeface="Calibri" pitchFamily="34" charset="-120"/>
              </a:rPr>
              <a:t>The five-month internship at Drasken Labs Private Limited was a valuable learning experience. As a Node.js Developer Intern under the HRMS Development Team, the internship provided practical exposure to backend and web development, strengthening the understanding of programming concepts in a professional environment.</a:t>
            </a:r>
            <a:endParaRPr lang="en-US" sz="1500" dirty="0"/>
          </a:p>
          <a:p>
            <a:pPr indent="0" marL="0">
              <a:lnSpc>
                <a:spcPct val="140000"/>
              </a:lnSpc>
              <a:buNone/>
            </a:pPr>
            <a:endParaRPr lang="en-US" sz="1500" dirty="0"/>
          </a:p>
          <a:p>
            <a:pPr indent="0" marL="0">
              <a:lnSpc>
                <a:spcPct val="140000"/>
              </a:lnSpc>
              <a:buNone/>
            </a:pPr>
            <a:r>
              <a:rPr lang="en-US" sz="1500" dirty="0">
                <a:solidFill>
                  <a:srgbClr val="F4F4F2"/>
                </a:solidFill>
                <a:latin typeface="Calibri" pitchFamily="34" charset="0"/>
                <a:ea typeface="Calibri" pitchFamily="34" charset="-122"/>
                <a:cs typeface="Calibri" pitchFamily="34" charset="-120"/>
              </a:rPr>
              <a:t>Working with the team also helped build teamwork, communication, debugging, and problem-solving skills — successfully bridging the gap between theoretical knowledge and practical industry experience, and providing a strong foundation for future academic and professional growth.</a:t>
            </a:r>
            <a:endParaRPr lang="en-US" sz="1500" dirty="0"/>
          </a:p>
        </p:txBody>
      </p:sp>
      <p:sp>
        <p:nvSpPr>
          <p:cNvPr id="8" name="Shape 6"/>
          <p:cNvSpPr/>
          <p:nvPr/>
        </p:nvSpPr>
        <p:spPr>
          <a:xfrm>
            <a:off x="7498080" y="1920240"/>
            <a:ext cx="3931920" cy="4023360"/>
          </a:xfrm>
          <a:prstGeom prst="roundRect">
            <a:avLst>
              <a:gd name="adj" fmla="val 2326"/>
            </a:avLst>
          </a:prstGeom>
          <a:solidFill>
            <a:srgbClr val="262B30"/>
          </a:solidFill>
          <a:ln w="12700">
            <a:solidFill>
              <a:srgbClr val="3C6E3A"/>
            </a:solidFill>
            <a:prstDash val="solid"/>
          </a:ln>
        </p:spPr>
      </p:sp>
      <p:sp>
        <p:nvSpPr>
          <p:cNvPr id="9" name="Text 7"/>
          <p:cNvSpPr/>
          <p:nvPr/>
        </p:nvSpPr>
        <p:spPr>
          <a:xfrm>
            <a:off x="7772400" y="2194560"/>
            <a:ext cx="3383280" cy="685800"/>
          </a:xfrm>
          <a:prstGeom prst="rect">
            <a:avLst/>
          </a:prstGeom>
          <a:noFill/>
          <a:ln/>
        </p:spPr>
        <p:txBody>
          <a:bodyPr wrap="square" rtlCol="0" anchor="ctr"/>
          <a:lstStyle/>
          <a:p>
            <a:pPr indent="0" marL="0">
              <a:buNone/>
            </a:pPr>
            <a:r>
              <a:rPr lang="en-US" sz="3400" b="1" dirty="0">
                <a:solidFill>
                  <a:srgbClr val="5FA85D"/>
                </a:solidFill>
                <a:latin typeface="Cambria" pitchFamily="34" charset="0"/>
                <a:ea typeface="Cambria" pitchFamily="34" charset="-122"/>
                <a:cs typeface="Cambria" pitchFamily="34" charset="-120"/>
              </a:rPr>
              <a:t>5</a:t>
            </a:r>
            <a:endParaRPr lang="en-US" sz="3400" dirty="0"/>
          </a:p>
        </p:txBody>
      </p:sp>
      <p:sp>
        <p:nvSpPr>
          <p:cNvPr id="10" name="Text 8"/>
          <p:cNvSpPr/>
          <p:nvPr/>
        </p:nvSpPr>
        <p:spPr>
          <a:xfrm>
            <a:off x="7772400" y="2852928"/>
            <a:ext cx="3383280" cy="365760"/>
          </a:xfrm>
          <a:prstGeom prst="rect">
            <a:avLst/>
          </a:prstGeom>
          <a:noFill/>
          <a:ln/>
        </p:spPr>
        <p:txBody>
          <a:bodyPr wrap="square" rtlCol="0" anchor="ctr"/>
          <a:lstStyle/>
          <a:p>
            <a:pPr indent="0" marL="0">
              <a:buNone/>
            </a:pPr>
            <a:r>
              <a:rPr lang="en-US" sz="1200" dirty="0">
                <a:solidFill>
                  <a:srgbClr val="8A9199"/>
                </a:solidFill>
                <a:latin typeface="Calibri" pitchFamily="34" charset="0"/>
                <a:ea typeface="Calibri" pitchFamily="34" charset="-122"/>
                <a:cs typeface="Calibri" pitchFamily="34" charset="-120"/>
              </a:rPr>
              <a:t>Months of Internship</a:t>
            </a:r>
            <a:endParaRPr lang="en-US" sz="1200" dirty="0"/>
          </a:p>
        </p:txBody>
      </p:sp>
      <p:sp>
        <p:nvSpPr>
          <p:cNvPr id="11" name="Text 9"/>
          <p:cNvSpPr/>
          <p:nvPr/>
        </p:nvSpPr>
        <p:spPr>
          <a:xfrm>
            <a:off x="7772400" y="3383280"/>
            <a:ext cx="3383280" cy="685800"/>
          </a:xfrm>
          <a:prstGeom prst="rect">
            <a:avLst/>
          </a:prstGeom>
          <a:noFill/>
          <a:ln/>
        </p:spPr>
        <p:txBody>
          <a:bodyPr wrap="square" rtlCol="0" anchor="ctr"/>
          <a:lstStyle/>
          <a:p>
            <a:pPr indent="0" marL="0">
              <a:buNone/>
            </a:pPr>
            <a:r>
              <a:rPr lang="en-US" sz="3400" b="1" dirty="0">
                <a:solidFill>
                  <a:srgbClr val="5FA85D"/>
                </a:solidFill>
                <a:latin typeface="Cambria" pitchFamily="34" charset="0"/>
                <a:ea typeface="Cambria" pitchFamily="34" charset="-122"/>
                <a:cs typeface="Cambria" pitchFamily="34" charset="-120"/>
              </a:rPr>
              <a:t>Node.js</a:t>
            </a:r>
            <a:endParaRPr lang="en-US" sz="3400" dirty="0"/>
          </a:p>
        </p:txBody>
      </p:sp>
      <p:sp>
        <p:nvSpPr>
          <p:cNvPr id="12" name="Text 10"/>
          <p:cNvSpPr/>
          <p:nvPr/>
        </p:nvSpPr>
        <p:spPr>
          <a:xfrm>
            <a:off x="7772400" y="4041648"/>
            <a:ext cx="3383280" cy="365760"/>
          </a:xfrm>
          <a:prstGeom prst="rect">
            <a:avLst/>
          </a:prstGeom>
          <a:noFill/>
          <a:ln/>
        </p:spPr>
        <p:txBody>
          <a:bodyPr wrap="square" rtlCol="0" anchor="ctr"/>
          <a:lstStyle/>
          <a:p>
            <a:pPr indent="0" marL="0">
              <a:buNone/>
            </a:pPr>
            <a:r>
              <a:rPr lang="en-US" sz="1200" dirty="0">
                <a:solidFill>
                  <a:srgbClr val="8A9199"/>
                </a:solidFill>
                <a:latin typeface="Calibri" pitchFamily="34" charset="0"/>
                <a:ea typeface="Calibri" pitchFamily="34" charset="-122"/>
                <a:cs typeface="Calibri" pitchFamily="34" charset="-120"/>
              </a:rPr>
              <a:t>Core Technology</a:t>
            </a:r>
            <a:endParaRPr lang="en-US" sz="1200" dirty="0"/>
          </a:p>
        </p:txBody>
      </p:sp>
      <p:sp>
        <p:nvSpPr>
          <p:cNvPr id="13" name="Text 11"/>
          <p:cNvSpPr/>
          <p:nvPr/>
        </p:nvSpPr>
        <p:spPr>
          <a:xfrm>
            <a:off x="7772400" y="4572000"/>
            <a:ext cx="3383280" cy="685800"/>
          </a:xfrm>
          <a:prstGeom prst="rect">
            <a:avLst/>
          </a:prstGeom>
          <a:noFill/>
          <a:ln/>
        </p:spPr>
        <p:txBody>
          <a:bodyPr wrap="square" rtlCol="0" anchor="ctr"/>
          <a:lstStyle/>
          <a:p>
            <a:pPr indent="0" marL="0">
              <a:buNone/>
            </a:pPr>
            <a:r>
              <a:rPr lang="en-US" sz="3400" b="1" dirty="0">
                <a:solidFill>
                  <a:srgbClr val="5FA85D"/>
                </a:solidFill>
                <a:latin typeface="Cambria" pitchFamily="34" charset="0"/>
                <a:ea typeface="Cambria" pitchFamily="34" charset="-122"/>
                <a:cs typeface="Cambria" pitchFamily="34" charset="-120"/>
              </a:rPr>
              <a:t>HRMS</a:t>
            </a:r>
            <a:endParaRPr lang="en-US" sz="3400" dirty="0"/>
          </a:p>
        </p:txBody>
      </p:sp>
      <p:sp>
        <p:nvSpPr>
          <p:cNvPr id="14" name="Text 12"/>
          <p:cNvSpPr/>
          <p:nvPr/>
        </p:nvSpPr>
        <p:spPr>
          <a:xfrm>
            <a:off x="7772400" y="5230368"/>
            <a:ext cx="3383280" cy="365760"/>
          </a:xfrm>
          <a:prstGeom prst="rect">
            <a:avLst/>
          </a:prstGeom>
          <a:noFill/>
          <a:ln/>
        </p:spPr>
        <p:txBody>
          <a:bodyPr wrap="square" rtlCol="0" anchor="ctr"/>
          <a:lstStyle/>
          <a:p>
            <a:pPr indent="0" marL="0">
              <a:buNone/>
            </a:pPr>
            <a:r>
              <a:rPr lang="en-US" sz="1200" dirty="0">
                <a:solidFill>
                  <a:srgbClr val="8A9199"/>
                </a:solidFill>
                <a:latin typeface="Calibri" pitchFamily="34" charset="0"/>
                <a:ea typeface="Calibri" pitchFamily="34" charset="-122"/>
                <a:cs typeface="Calibri" pitchFamily="34" charset="-120"/>
              </a:rPr>
              <a:t>Team &amp; Project Domain</a:t>
            </a:r>
            <a:endParaRPr lang="en-US" sz="1200" dirty="0"/>
          </a:p>
        </p:txBody>
      </p:sp>
      <p:sp>
        <p:nvSpPr>
          <p:cNvPr id="15" name="Text 13"/>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11430000" y="-548640"/>
            <a:ext cx="1463040" cy="1463040"/>
          </a:xfrm>
          <a:prstGeom prst="ellipse">
            <a:avLst/>
          </a:prstGeom>
          <a:solidFill>
            <a:srgbClr val="5FA85D">
              <a:alpha val="85000"/>
            </a:srgbClr>
          </a:solidFill>
          <a:ln/>
        </p:spPr>
      </p:sp>
      <p:sp>
        <p:nvSpPr>
          <p:cNvPr id="3" name="Shape 1"/>
          <p:cNvSpPr/>
          <p:nvPr/>
        </p:nvSpPr>
        <p:spPr>
          <a:xfrm>
            <a:off x="-548640" y="5943600"/>
            <a:ext cx="1463040" cy="1463040"/>
          </a:xfrm>
          <a:prstGeom prst="ellipse">
            <a:avLst/>
          </a:prstGeom>
          <a:solidFill>
            <a:srgbClr val="5FA85D">
              <a:alpha val="75000"/>
            </a:srgbClr>
          </a:solidFill>
          <a:ln/>
        </p:spPr>
      </p:sp>
      <p:sp>
        <p:nvSpPr>
          <p:cNvPr id="4" name="Shape 2"/>
          <p:cNvSpPr/>
          <p:nvPr/>
        </p:nvSpPr>
        <p:spPr>
          <a:xfrm>
            <a:off x="457200" y="457200"/>
            <a:ext cx="2377440" cy="365760"/>
          </a:xfrm>
          <a:prstGeom prst="roundRect">
            <a:avLst>
              <a:gd name="adj" fmla="val 20000"/>
            </a:avLst>
          </a:prstGeom>
          <a:solidFill>
            <a:srgbClr val="5FA85D">
              <a:alpha val="90000"/>
            </a:srgbClr>
          </a:solidFill>
          <a:ln/>
        </p:spPr>
      </p:sp>
      <p:sp>
        <p:nvSpPr>
          <p:cNvPr id="5" name="Text 3"/>
          <p:cNvSpPr/>
          <p:nvPr/>
        </p:nvSpPr>
        <p:spPr>
          <a:xfrm>
            <a:off x="457200" y="457200"/>
            <a:ext cx="2377440" cy="365760"/>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11  ·  BIBLIOGRAPHY</a:t>
            </a:r>
            <a:endParaRPr lang="en-US" sz="1100" dirty="0"/>
          </a:p>
        </p:txBody>
      </p:sp>
      <p:sp>
        <p:nvSpPr>
          <p:cNvPr id="6" name="Text 4"/>
          <p:cNvSpPr/>
          <p:nvPr/>
        </p:nvSpPr>
        <p:spPr>
          <a:xfrm>
            <a:off x="457200" y="960120"/>
            <a:ext cx="11247120" cy="822960"/>
          </a:xfrm>
          <a:prstGeom prst="rect">
            <a:avLst/>
          </a:prstGeom>
          <a:noFill/>
          <a:ln/>
        </p:spPr>
        <p:txBody>
          <a:bodyPr wrap="square" rtlCol="0" anchor="ctr"/>
          <a:lstStyle/>
          <a:p>
            <a:pPr indent="0" marL="0">
              <a:buNone/>
            </a:pPr>
            <a:r>
              <a:rPr lang="en-US" sz="3200" b="1" dirty="0">
                <a:solidFill>
                  <a:srgbClr val="1B1F23"/>
                </a:solidFill>
                <a:latin typeface="Cambria" pitchFamily="34" charset="0"/>
                <a:ea typeface="Cambria" pitchFamily="34" charset="-122"/>
                <a:cs typeface="Cambria" pitchFamily="34" charset="-120"/>
              </a:rPr>
              <a:t>Bibliography &amp; References</a:t>
            </a:r>
            <a:endParaRPr lang="en-US" sz="3200" dirty="0"/>
          </a:p>
        </p:txBody>
      </p:sp>
      <p:sp>
        <p:nvSpPr>
          <p:cNvPr id="7" name="Text 5"/>
          <p:cNvSpPr/>
          <p:nvPr/>
        </p:nvSpPr>
        <p:spPr>
          <a:xfrm>
            <a:off x="457200" y="1874520"/>
            <a:ext cx="10332720" cy="3291840"/>
          </a:xfrm>
          <a:prstGeom prst="rect">
            <a:avLst/>
          </a:prstGeom>
          <a:noFill/>
          <a:ln/>
        </p:spPr>
        <p:txBody>
          <a:bodyPr wrap="square" rtlCol="0" anchor="t"/>
          <a:lstStyle/>
          <a:p>
            <a:pPr indent="0" marL="0">
              <a:lnSpc>
                <a:spcPct val="120000"/>
              </a:lnSpc>
              <a:spcAft>
                <a:spcPts val="1200"/>
              </a:spcAft>
              <a:buNone/>
            </a:pPr>
            <a:r>
              <a:rPr lang="en-US" sz="1400" dirty="0">
                <a:solidFill>
                  <a:srgbClr val="1B1F23"/>
                </a:solidFill>
                <a:latin typeface="Calibri" pitchFamily="34" charset="0"/>
                <a:ea typeface="Calibri" pitchFamily="34" charset="-122"/>
                <a:cs typeface="Calibri" pitchFamily="34" charset="-120"/>
              </a:rPr>
              <a:t>1.  Node.js Documentation — official documentation and reference material</a:t>
            </a:r>
            <a:endParaRPr lang="en-US" sz="1400" dirty="0"/>
          </a:p>
          <a:p>
            <a:pPr indent="0" marL="0">
              <a:lnSpc>
                <a:spcPct val="120000"/>
              </a:lnSpc>
              <a:spcAft>
                <a:spcPts val="1200"/>
              </a:spcAft>
              <a:buNone/>
            </a:pPr>
            <a:r>
              <a:rPr lang="en-US" sz="1400" dirty="0">
                <a:solidFill>
                  <a:srgbClr val="1B1F23"/>
                </a:solidFill>
                <a:latin typeface="Calibri" pitchFamily="34" charset="0"/>
                <a:ea typeface="Calibri" pitchFamily="34" charset="-122"/>
                <a:cs typeface="Calibri" pitchFamily="34" charset="-120"/>
              </a:rPr>
              <a:t>2.  JavaScript Documentation — reference material for JavaScript programming</a:t>
            </a:r>
            <a:endParaRPr lang="en-US" sz="1400" dirty="0"/>
          </a:p>
          <a:p>
            <a:pPr indent="0" marL="0">
              <a:lnSpc>
                <a:spcPct val="120000"/>
              </a:lnSpc>
              <a:spcAft>
                <a:spcPts val="1200"/>
              </a:spcAft>
              <a:buNone/>
            </a:pPr>
            <a:r>
              <a:rPr lang="en-US" sz="1400" dirty="0">
                <a:solidFill>
                  <a:srgbClr val="1B1F23"/>
                </a:solidFill>
                <a:latin typeface="Calibri" pitchFamily="34" charset="0"/>
                <a:ea typeface="Calibri" pitchFamily="34" charset="-122"/>
                <a:cs typeface="Calibri" pitchFamily="34" charset="-120"/>
              </a:rPr>
              <a:t>3.  REST API concepts and HTTP documentation</a:t>
            </a:r>
            <a:endParaRPr lang="en-US" sz="1400" dirty="0"/>
          </a:p>
          <a:p>
            <a:pPr indent="0" marL="0">
              <a:lnSpc>
                <a:spcPct val="120000"/>
              </a:lnSpc>
              <a:spcAft>
                <a:spcPts val="1200"/>
              </a:spcAft>
              <a:buNone/>
            </a:pPr>
            <a:r>
              <a:rPr lang="en-US" sz="1400" dirty="0">
                <a:solidFill>
                  <a:srgbClr val="1B1F23"/>
                </a:solidFill>
                <a:latin typeface="Calibri" pitchFamily="34" charset="0"/>
                <a:ea typeface="Calibri" pitchFamily="34" charset="-122"/>
                <a:cs typeface="Calibri" pitchFamily="34" charset="-120"/>
              </a:rPr>
              <a:t>4.  Git Documentation — version control concepts</a:t>
            </a:r>
            <a:endParaRPr lang="en-US" sz="1400" dirty="0"/>
          </a:p>
          <a:p>
            <a:pPr indent="0" marL="0">
              <a:lnSpc>
                <a:spcPct val="120000"/>
              </a:lnSpc>
              <a:spcAft>
                <a:spcPts val="1200"/>
              </a:spcAft>
              <a:buNone/>
            </a:pPr>
            <a:r>
              <a:rPr lang="en-US" sz="1400" dirty="0">
                <a:solidFill>
                  <a:srgbClr val="1B1F23"/>
                </a:solidFill>
                <a:latin typeface="Calibri" pitchFamily="34" charset="0"/>
                <a:ea typeface="Calibri" pitchFamily="34" charset="-122"/>
                <a:cs typeface="Calibri" pitchFamily="34" charset="-120"/>
              </a:rPr>
              <a:t>5.  Web development reference materials and tutorials</a:t>
            </a:r>
            <a:endParaRPr lang="en-US" sz="1400" dirty="0"/>
          </a:p>
          <a:p>
            <a:pPr indent="0" marL="0">
              <a:lnSpc>
                <a:spcPct val="120000"/>
              </a:lnSpc>
              <a:spcAft>
                <a:spcPts val="1200"/>
              </a:spcAft>
              <a:buNone/>
            </a:pPr>
            <a:r>
              <a:rPr lang="en-US" sz="1400" dirty="0">
                <a:solidFill>
                  <a:srgbClr val="1B1F23"/>
                </a:solidFill>
                <a:latin typeface="Calibri" pitchFamily="34" charset="0"/>
                <a:ea typeface="Calibri" pitchFamily="34" charset="-122"/>
                <a:cs typeface="Calibri" pitchFamily="34" charset="-120"/>
              </a:rPr>
              <a:t>6.  Internship learning material and project documentation provided during the internship</a:t>
            </a:r>
            <a:endParaRPr lang="en-US" sz="1400" dirty="0"/>
          </a:p>
        </p:txBody>
      </p:sp>
      <p:sp>
        <p:nvSpPr>
          <p:cNvPr id="8" name="Shape 6"/>
          <p:cNvSpPr/>
          <p:nvPr/>
        </p:nvSpPr>
        <p:spPr>
          <a:xfrm>
            <a:off x="1188720" y="5394960"/>
            <a:ext cx="9601200" cy="0"/>
          </a:xfrm>
          <a:prstGeom prst="line">
            <a:avLst/>
          </a:prstGeom>
          <a:noFill/>
          <a:ln w="12700">
            <a:solidFill>
              <a:srgbClr val="CCCCCC"/>
            </a:solidFill>
            <a:prstDash val="solid"/>
          </a:ln>
        </p:spPr>
      </p:sp>
      <p:sp>
        <p:nvSpPr>
          <p:cNvPr id="9" name="Text 7"/>
          <p:cNvSpPr/>
          <p:nvPr/>
        </p:nvSpPr>
        <p:spPr>
          <a:xfrm>
            <a:off x="1188720" y="5577840"/>
            <a:ext cx="5486400" cy="548640"/>
          </a:xfrm>
          <a:prstGeom prst="rect">
            <a:avLst/>
          </a:prstGeom>
          <a:noFill/>
          <a:ln/>
        </p:spPr>
        <p:txBody>
          <a:bodyPr wrap="square" rtlCol="0" anchor="ctr"/>
          <a:lstStyle/>
          <a:p>
            <a:pPr indent="0" marL="0">
              <a:buNone/>
            </a:pPr>
            <a:r>
              <a:rPr lang="en-US" sz="2200" b="1" dirty="0">
                <a:solidFill>
                  <a:srgbClr val="3C6E3A"/>
                </a:solidFill>
                <a:latin typeface="Cambria" pitchFamily="34" charset="0"/>
                <a:ea typeface="Cambria" pitchFamily="34" charset="-122"/>
                <a:cs typeface="Cambria" pitchFamily="34" charset="-120"/>
              </a:rPr>
              <a:t>Thank you</a:t>
            </a:r>
            <a:endParaRPr lang="en-US" sz="2200" dirty="0"/>
          </a:p>
        </p:txBody>
      </p:sp>
      <p:sp>
        <p:nvSpPr>
          <p:cNvPr id="10" name="Text 8"/>
          <p:cNvSpPr/>
          <p:nvPr/>
        </p:nvSpPr>
        <p:spPr>
          <a:xfrm>
            <a:off x="1188720" y="6126480"/>
            <a:ext cx="9601200" cy="365760"/>
          </a:xfrm>
          <a:prstGeom prst="rect">
            <a:avLst/>
          </a:prstGeom>
          <a:noFill/>
          <a:ln/>
        </p:spPr>
        <p:txBody>
          <a:bodyPr wrap="square" rtlCol="0" anchor="ctr"/>
          <a:lstStyle/>
          <a:p>
            <a:pPr indent="0" marL="0">
              <a:buNone/>
            </a:pPr>
            <a:r>
              <a:rPr lang="en-US" sz="1200" dirty="0">
                <a:solidFill>
                  <a:srgbClr val="8A9199"/>
                </a:solidFill>
                <a:latin typeface="Calibri" pitchFamily="34" charset="0"/>
                <a:ea typeface="Calibri" pitchFamily="34" charset="-122"/>
                <a:cs typeface="Calibri" pitchFamily="34" charset="-120"/>
              </a:rPr>
              <a:t>Kunal Kumar  |  Roll No. 2410031543  |  B.Tech CSE, IILM University, Greater Noida</a:t>
            </a:r>
            <a:endParaRPr lang="en-US" sz="1200" dirty="0"/>
          </a:p>
        </p:txBody>
      </p:sp>
      <p:sp>
        <p:nvSpPr>
          <p:cNvPr id="11" name="Text 9"/>
          <p:cNvSpPr/>
          <p:nvPr/>
        </p:nvSpPr>
        <p:spPr>
          <a:xfrm>
            <a:off x="11475720" y="6446520"/>
            <a:ext cx="548640" cy="274320"/>
          </a:xfrm>
          <a:prstGeom prst="rect">
            <a:avLst/>
          </a:prstGeom>
          <a:noFill/>
          <a:ln/>
        </p:spPr>
        <p:txBody>
          <a:bodyPr wrap="square" rtlCol="0" anchor="ctr"/>
          <a:lstStyle/>
          <a:p>
            <a:pPr algn="r" indent="0" marL="0">
              <a:buNone/>
            </a:pPr>
            <a:r>
              <a:rPr lang="en-US" sz="1000" dirty="0">
                <a:solidFill>
                  <a:srgbClr val="8A9199"/>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2026-09-09T06:01:33Z</dcterms:created>
  <dcterms:modified xsi:type="dcterms:W3CDTF">2026-09-09T06:01:33Z</dcterms:modified>
</cp:coreProperties>
</file>